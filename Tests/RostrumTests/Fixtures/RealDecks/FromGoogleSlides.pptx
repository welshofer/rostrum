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Inter SemiBold"/>
      <p:regular r:id="rId14"/>
      <p:bold r:id="rId15"/>
      <p:italic r:id="rId16"/>
      <p:boldItalic r:id="rId17"/>
    </p:embeddedFont>
    <p:embeddedFont>
      <p:font typeface="Roboto"/>
      <p:regular r:id="rId18"/>
      <p:bold r:id="rId19"/>
      <p:italic r:id="rId20"/>
      <p:boldItalic r:id="rId21"/>
    </p:embeddedFont>
    <p:embeddedFont>
      <p:font typeface="Inter"/>
      <p:bold r:id="rId22"/>
      <p:boldItalic r:id="rId23"/>
    </p:embeddedFont>
    <p:embeddedFont>
      <p:font typeface="Inter ExtraBold"/>
      <p:bold r:id="rId24"/>
      <p:boldItalic r:id="rId25"/>
    </p:embeddedFont>
    <p:embeddedFont>
      <p:font typeface="Roboto Mono"/>
      <p:bold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Inter-bold.fntdata"/><Relationship Id="rId21" Type="http://schemas.openxmlformats.org/officeDocument/2006/relationships/font" Target="fonts/Roboto-boldItalic.fntdata"/><Relationship Id="rId24" Type="http://schemas.openxmlformats.org/officeDocument/2006/relationships/font" Target="fonts/InterExtraBold-bold.fntdata"/><Relationship Id="rId23" Type="http://schemas.openxmlformats.org/officeDocument/2006/relationships/font" Target="fonts/Int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fntdata"/><Relationship Id="rId25" Type="http://schemas.openxmlformats.org/officeDocument/2006/relationships/font" Target="fonts/InterExtraBold-boldItalic.fntdata"/><Relationship Id="rId27"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nterSemiBold-bold.fntdata"/><Relationship Id="rId14" Type="http://schemas.openxmlformats.org/officeDocument/2006/relationships/font" Target="fonts/InterSemiBold-regular.fntdata"/><Relationship Id="rId17" Type="http://schemas.openxmlformats.org/officeDocument/2006/relationships/font" Target="fonts/InterSemiBold-boldItalic.fntdata"/><Relationship Id="rId16" Type="http://schemas.openxmlformats.org/officeDocument/2006/relationships/font" Target="fonts/InterSemiBold-italic.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5d4feef17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5d4feef17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5d4feef17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5d4feef17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5d4feef17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5d4feef17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5d4feef17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5d4feef17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5d4feef17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5d4feef17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5d4feef17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5d4feef17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5d4feef17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5d4feef17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5d4feef17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5d4feef17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5d4feef17_13_0)">
  <p:cSld name="Generated (g3f5d4feef17_13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54" name="Shape 54"/>
        <p:cNvGrpSpPr/>
        <p:nvPr/>
      </p:nvGrpSpPr>
      <p:grpSpPr>
        <a:xfrm>
          <a:off x="0" y="0"/>
          <a:ext cx="0" cy="0"/>
          <a:chOff x="0" y="0"/>
          <a:chExt cx="0" cy="0"/>
        </a:xfrm>
      </p:grpSpPr>
      <p:grpSp>
        <p:nvGrpSpPr>
          <p:cNvPr id="55" name="Google Shape;55;p14"/>
          <p:cNvGrpSpPr/>
          <p:nvPr/>
        </p:nvGrpSpPr>
        <p:grpSpPr>
          <a:xfrm>
            <a:off x="571500" y="0"/>
            <a:ext cx="8572500" cy="4400700"/>
            <a:chOff x="571500" y="0"/>
            <a:chExt cx="8572500" cy="4400700"/>
          </a:xfrm>
        </p:grpSpPr>
        <p:grpSp>
          <p:nvGrpSpPr>
            <p:cNvPr id="56" name="Google Shape;56;p14"/>
            <p:cNvGrpSpPr/>
            <p:nvPr/>
          </p:nvGrpSpPr>
          <p:grpSpPr>
            <a:xfrm>
              <a:off x="8001000" y="0"/>
              <a:ext cx="1143000" cy="647700"/>
              <a:chOff x="0" y="0"/>
              <a:chExt cx="1143000" cy="647700"/>
            </a:xfrm>
          </p:grpSpPr>
          <p:sp>
            <p:nvSpPr>
              <p:cNvPr id="57" name="Google Shape;57;p14"/>
              <p:cNvSpPr/>
              <p:nvPr/>
            </p:nvSpPr>
            <p:spPr>
              <a:xfrm>
                <a:off x="0" y="0"/>
                <a:ext cx="1143000" cy="762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p:nvPr/>
            </p:nvSpPr>
            <p:spPr>
              <a:xfrm>
                <a:off x="1066800" y="76200"/>
                <a:ext cx="76200" cy="5715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14"/>
              <p:cNvSpPr/>
              <p:nvPr/>
            </p:nvSpPr>
            <p:spPr>
              <a:xfrm>
                <a:off x="0" y="76200"/>
                <a:ext cx="381000" cy="381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0" name="Google Shape;60;p14"/>
            <p:cNvGrpSpPr/>
            <p:nvPr/>
          </p:nvGrpSpPr>
          <p:grpSpPr>
            <a:xfrm>
              <a:off x="571500" y="571500"/>
              <a:ext cx="304800" cy="304800"/>
              <a:chOff x="0" y="0"/>
              <a:chExt cx="304800" cy="304800"/>
            </a:xfrm>
          </p:grpSpPr>
          <p:sp>
            <p:nvSpPr>
              <p:cNvPr id="61" name="Google Shape;61;p14"/>
              <p:cNvSpPr/>
              <p:nvPr/>
            </p:nvSpPr>
            <p:spPr>
              <a:xfrm>
                <a:off x="0" y="0"/>
                <a:ext cx="304800" cy="304800"/>
              </a:xfrm>
              <a:prstGeom prst="ellipse">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p:nvPr/>
            </p:nvSpPr>
            <p:spPr>
              <a:xfrm>
                <a:off x="38100" y="38100"/>
                <a:ext cx="228600" cy="114300"/>
              </a:xfrm>
              <a:custGeom>
                <a:rect b="b" l="l" r="r" t="t"/>
                <a:pathLst>
                  <a:path extrusionOk="0" h="120000" w="120000">
                    <a:moveTo>
                      <a:pt x="0" y="120000"/>
                    </a:moveTo>
                    <a:cubicBezTo>
                      <a:pt x="0" y="53726"/>
                      <a:pt x="26863" y="0"/>
                      <a:pt x="60000" y="0"/>
                    </a:cubicBezTo>
                    <a:cubicBezTo>
                      <a:pt x="93137" y="0"/>
                      <a:pt x="120000" y="53726"/>
                      <a:pt x="120000" y="120000"/>
                    </a:cubicBezTo>
                  </a:path>
                </a:pathLst>
              </a:custGeom>
              <a:solidFill>
                <a:srgbClr val="000000">
                  <a:alpha val="0"/>
                </a:srgbClr>
              </a:solidFill>
              <a:ln cap="flat" cmpd="sng" w="28575">
                <a:solidFill>
                  <a:srgbClr val="F7F7F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p:nvPr/>
            </p:nvSpPr>
            <p:spPr>
              <a:xfrm>
                <a:off x="133350" y="76200"/>
                <a:ext cx="38100" cy="1524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 name="Google Shape;64;p14"/>
            <p:cNvSpPr/>
            <p:nvPr/>
          </p:nvSpPr>
          <p:spPr>
            <a:xfrm>
              <a:off x="571500" y="1524000"/>
              <a:ext cx="8001000" cy="192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p:nvPr/>
          </p:nvSpPr>
          <p:spPr>
            <a:xfrm>
              <a:off x="571500" y="4381500"/>
              <a:ext cx="8001000" cy="192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6" name="Google Shape;66;p14"/>
          <p:cNvSpPr txBox="1"/>
          <p:nvPr/>
        </p:nvSpPr>
        <p:spPr>
          <a:xfrm>
            <a:off x="571500" y="1619250"/>
            <a:ext cx="8001000" cy="266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720">
                <a:solidFill>
                  <a:srgbClr val="0F172A"/>
                </a:solidFill>
                <a:latin typeface="Inter ExtraBold"/>
                <a:ea typeface="Inter ExtraBold"/>
                <a:cs typeface="Inter ExtraBold"/>
                <a:sym typeface="Inter ExtraBold"/>
              </a:rPr>
              <a:t>The Climate Crisis:</a:t>
            </a:r>
            <a:endParaRPr b="0" sz="3720">
              <a:solidFill>
                <a:srgbClr val="0F172A"/>
              </a:solidFill>
              <a:latin typeface="Inter ExtraBold"/>
              <a:ea typeface="Inter ExtraBold"/>
              <a:cs typeface="Inter ExtraBold"/>
              <a:sym typeface="Inter ExtraBold"/>
            </a:endParaRPr>
          </a:p>
          <a:p>
            <a:pPr indent="0" lvl="0" marL="0" rtl="0" algn="l">
              <a:spcBef>
                <a:spcPts val="600"/>
              </a:spcBef>
              <a:spcAft>
                <a:spcPts val="0"/>
              </a:spcAft>
              <a:buNone/>
            </a:pPr>
            <a:r>
              <a:rPr b="0" lang="en" sz="3720">
                <a:solidFill>
                  <a:srgbClr val="0F172A"/>
                </a:solidFill>
                <a:latin typeface="Inter ExtraBold"/>
                <a:ea typeface="Inter ExtraBold"/>
                <a:cs typeface="Inter ExtraBold"/>
                <a:sym typeface="Inter ExtraBold"/>
              </a:rPr>
              <a:t>Understanding Our</a:t>
            </a:r>
            <a:endParaRPr b="0" sz="3720">
              <a:solidFill>
                <a:srgbClr val="0F172A"/>
              </a:solidFill>
              <a:latin typeface="Inter ExtraBold"/>
              <a:ea typeface="Inter ExtraBold"/>
              <a:cs typeface="Inter ExtraBold"/>
              <a:sym typeface="Inter ExtraBold"/>
            </a:endParaRPr>
          </a:p>
          <a:p>
            <a:pPr indent="0" lvl="0" marL="0" rtl="0" algn="l">
              <a:spcBef>
                <a:spcPts val="600"/>
              </a:spcBef>
              <a:spcAft>
                <a:spcPts val="0"/>
              </a:spcAft>
              <a:buNone/>
            </a:pPr>
            <a:r>
              <a:rPr b="0" lang="en" sz="3720">
                <a:solidFill>
                  <a:srgbClr val="0F172A"/>
                </a:solidFill>
                <a:latin typeface="Inter ExtraBold"/>
                <a:ea typeface="Inter ExtraBold"/>
                <a:cs typeface="Inter ExtraBold"/>
                <a:sym typeface="Inter ExtraBold"/>
              </a:rPr>
              <a:t>Changing Planet</a:t>
            </a:r>
            <a:endParaRPr b="0" sz="3720">
              <a:solidFill>
                <a:srgbClr val="0F172A"/>
              </a:solidFill>
              <a:latin typeface="Inter ExtraBold"/>
              <a:ea typeface="Inter ExtraBold"/>
              <a:cs typeface="Inter ExtraBold"/>
              <a:sym typeface="Inter ExtraBold"/>
            </a:endParaRPr>
          </a:p>
          <a:p>
            <a:pPr indent="0" lvl="0" marL="0" rtl="0" algn="l">
              <a:spcBef>
                <a:spcPts val="1500"/>
              </a:spcBef>
              <a:spcAft>
                <a:spcPts val="0"/>
              </a:spcAft>
              <a:buNone/>
            </a:pPr>
            <a:r>
              <a:rPr b="0" lang="en" sz="1860">
                <a:solidFill>
                  <a:srgbClr val="065F46"/>
                </a:solidFill>
                <a:latin typeface="Inter SemiBold"/>
                <a:ea typeface="Inter SemiBold"/>
                <a:cs typeface="Inter SemiBold"/>
                <a:sym typeface="Inter SemiBold"/>
              </a:rPr>
              <a:t>Exploring the science, impacts, and solutions for a sustainable future.</a:t>
            </a:r>
            <a:endParaRPr b="0" sz="1860">
              <a:solidFill>
                <a:srgbClr val="065F46"/>
              </a:solidFill>
              <a:latin typeface="Inter SemiBold"/>
              <a:ea typeface="Inter SemiBold"/>
              <a:cs typeface="Inter SemiBold"/>
              <a:sym typeface="Inter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70" name="Shape 70"/>
        <p:cNvGrpSpPr/>
        <p:nvPr/>
      </p:nvGrpSpPr>
      <p:grpSpPr>
        <a:xfrm>
          <a:off x="0" y="0"/>
          <a:ext cx="0" cy="0"/>
          <a:chOff x="0" y="0"/>
          <a:chExt cx="0" cy="0"/>
        </a:xfrm>
      </p:grpSpPr>
      <p:grpSp>
        <p:nvGrpSpPr>
          <p:cNvPr id="71" name="Google Shape;71;p15"/>
          <p:cNvGrpSpPr/>
          <p:nvPr/>
        </p:nvGrpSpPr>
        <p:grpSpPr>
          <a:xfrm>
            <a:off x="0" y="285750"/>
            <a:ext cx="9144000" cy="381150"/>
            <a:chOff x="0" y="0"/>
            <a:chExt cx="9144000" cy="381150"/>
          </a:xfrm>
        </p:grpSpPr>
        <p:sp>
          <p:nvSpPr>
            <p:cNvPr id="72" name="Google Shape;72;p15"/>
            <p:cNvSpPr/>
            <p:nvPr/>
          </p:nvSpPr>
          <p:spPr>
            <a:xfrm>
              <a:off x="0" y="0"/>
              <a:ext cx="9144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5"/>
            <p:cNvSpPr txBox="1"/>
            <p:nvPr/>
          </p:nvSpPr>
          <p:spPr>
            <a:xfrm>
              <a:off x="571500" y="95250"/>
              <a:ext cx="8001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75569"/>
                  </a:solidFill>
                  <a:latin typeface="Roboto Mono"/>
                  <a:ea typeface="Roboto Mono"/>
                  <a:cs typeface="Roboto Mono"/>
                  <a:sym typeface="Roboto Mono"/>
                </a:rPr>
                <a:t>CLIMATE SCIENCE &amp; ENVIRONMENT</a:t>
              </a:r>
              <a:endParaRPr b="1" sz="1200">
                <a:solidFill>
                  <a:srgbClr val="475569"/>
                </a:solidFill>
                <a:latin typeface="Roboto Mono"/>
                <a:ea typeface="Roboto Mono"/>
                <a:cs typeface="Roboto Mono"/>
                <a:sym typeface="Roboto Mono"/>
              </a:endParaRPr>
            </a:p>
          </p:txBody>
        </p:sp>
      </p:grpSp>
      <p:sp>
        <p:nvSpPr>
          <p:cNvPr id="74" name="Google Shape;74;p15"/>
          <p:cNvSpPr/>
          <p:nvPr/>
        </p:nvSpPr>
        <p:spPr>
          <a:xfrm>
            <a:off x="571500" y="4857750"/>
            <a:ext cx="3810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txBox="1"/>
          <p:nvPr/>
        </p:nvSpPr>
        <p:spPr>
          <a:xfrm>
            <a:off x="571500" y="857250"/>
            <a:ext cx="4191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20">
                <a:solidFill>
                  <a:srgbClr val="0F172A"/>
                </a:solidFill>
                <a:latin typeface="Inter ExtraBold"/>
                <a:ea typeface="Inter ExtraBold"/>
                <a:cs typeface="Inter ExtraBold"/>
                <a:sym typeface="Inter ExtraBold"/>
              </a:rPr>
              <a:t>The Science of</a:t>
            </a:r>
            <a:endParaRPr b="0" sz="2220">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rPr b="0" lang="en" sz="2220">
                <a:solidFill>
                  <a:srgbClr val="0F172A"/>
                </a:solidFill>
                <a:latin typeface="Inter ExtraBold"/>
                <a:ea typeface="Inter ExtraBold"/>
                <a:cs typeface="Inter ExtraBold"/>
                <a:sym typeface="Inter ExtraBold"/>
              </a:rPr>
              <a:t>Global Warming</a:t>
            </a:r>
            <a:endParaRPr b="0" sz="2220">
              <a:solidFill>
                <a:srgbClr val="0F172A"/>
              </a:solidFill>
              <a:latin typeface="Inter ExtraBold"/>
              <a:ea typeface="Inter ExtraBold"/>
              <a:cs typeface="Inter ExtraBold"/>
              <a:sym typeface="Inter ExtraBold"/>
            </a:endParaRPr>
          </a:p>
          <a:p>
            <a:pPr indent="0" lvl="0" marL="0" rtl="0" algn="l">
              <a:spcBef>
                <a:spcPts val="750"/>
              </a:spcBef>
              <a:spcAft>
                <a:spcPts val="0"/>
              </a:spcAft>
              <a:buNone/>
            </a:pPr>
            <a:r>
              <a:rPr b="0" lang="en" sz="1203">
                <a:solidFill>
                  <a:srgbClr val="065F46"/>
                </a:solidFill>
                <a:latin typeface="Inter SemiBold"/>
                <a:ea typeface="Inter SemiBold"/>
                <a:cs typeface="Inter SemiBold"/>
                <a:sym typeface="Inter SemiBold"/>
              </a:rPr>
              <a:t>The Greenhouse Effect Explained</a:t>
            </a:r>
            <a:endParaRPr b="0" sz="1203">
              <a:solidFill>
                <a:srgbClr val="065F46"/>
              </a:solidFill>
              <a:latin typeface="Inter SemiBold"/>
              <a:ea typeface="Inter SemiBold"/>
              <a:cs typeface="Inter SemiBold"/>
              <a:sym typeface="Inter SemiBold"/>
            </a:endParaRPr>
          </a:p>
        </p:txBody>
      </p:sp>
      <p:sp>
        <p:nvSpPr>
          <p:cNvPr id="76" name="Google Shape;76;p15"/>
          <p:cNvSpPr/>
          <p:nvPr/>
        </p:nvSpPr>
        <p:spPr>
          <a:xfrm>
            <a:off x="571500" y="1962150"/>
            <a:ext cx="4191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5"/>
          <p:cNvSpPr txBox="1"/>
          <p:nvPr/>
        </p:nvSpPr>
        <p:spPr>
          <a:xfrm>
            <a:off x="571500" y="2047875"/>
            <a:ext cx="41910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75569"/>
                </a:solidFill>
                <a:latin typeface="Roboto"/>
                <a:ea typeface="Roboto"/>
                <a:cs typeface="Roboto"/>
                <a:sym typeface="Roboto"/>
              </a:rPr>
              <a:t>The climate has changed many times before in Earth's history. These historical shifts ranged from ice ages, where glaciers sat on top of regions like what is now Windsor, to the time of the dinosaurs, when the Earth was so warm that ice did not exist at the poles. Most of these historical climate changes were naturally caused and driven by the sun or events like asteroids.</a:t>
            </a:r>
            <a:endParaRPr b="0" sz="1100">
              <a:solidFill>
                <a:srgbClr val="475569"/>
              </a:solidFill>
              <a:latin typeface="Roboto"/>
              <a:ea typeface="Roboto"/>
              <a:cs typeface="Roboto"/>
              <a:sym typeface="Roboto"/>
            </a:endParaRPr>
          </a:p>
        </p:txBody>
      </p:sp>
      <p:sp>
        <p:nvSpPr>
          <p:cNvPr id="78" name="Google Shape;78;p15"/>
          <p:cNvSpPr txBox="1"/>
          <p:nvPr/>
        </p:nvSpPr>
        <p:spPr>
          <a:xfrm>
            <a:off x="571500" y="3429000"/>
            <a:ext cx="41910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75569"/>
                </a:solidFill>
                <a:latin typeface="Roboto"/>
                <a:ea typeface="Roboto"/>
                <a:cs typeface="Roboto"/>
                <a:sym typeface="Roboto"/>
              </a:rPr>
              <a:t>However, in the last 200 years, that responsibility has fundamentally changed, and people are now the primary cause. Global warming is the direct result of increased CO2 emissions and other heat-trapping greenhouse gases accumulating in the atmosphere. This extra heat in the Earth system drastically affects the climate system and the weather we experience, fundamentally altering and impacting the ecosystems on Earth.</a:t>
            </a:r>
            <a:endParaRPr b="0" sz="1100">
              <a:solidFill>
                <a:srgbClr val="475569"/>
              </a:solidFill>
              <a:latin typeface="Roboto"/>
              <a:ea typeface="Roboto"/>
              <a:cs typeface="Roboto"/>
              <a:sym typeface="Roboto"/>
            </a:endParaRPr>
          </a:p>
        </p:txBody>
      </p:sp>
      <p:grpSp>
        <p:nvGrpSpPr>
          <p:cNvPr id="79" name="Google Shape;79;p15"/>
          <p:cNvGrpSpPr/>
          <p:nvPr/>
        </p:nvGrpSpPr>
        <p:grpSpPr>
          <a:xfrm>
            <a:off x="5143500" y="952500"/>
            <a:ext cx="3429000" cy="3429000"/>
            <a:chOff x="0" y="0"/>
            <a:chExt cx="3429000" cy="3429000"/>
          </a:xfrm>
        </p:grpSpPr>
        <p:sp>
          <p:nvSpPr>
            <p:cNvPr id="80" name="Google Shape;80;p15"/>
            <p:cNvSpPr/>
            <p:nvPr/>
          </p:nvSpPr>
          <p:spPr>
            <a:xfrm>
              <a:off x="0" y="0"/>
              <a:ext cx="3429000" cy="3429000"/>
            </a:xfrm>
            <a:prstGeom prst="rect">
              <a:avLst/>
            </a:prstGeom>
            <a:solidFill>
              <a:srgbClr val="E8E8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1" name="Google Shape;81;p15"/>
            <p:cNvPicPr preferRelativeResize="0"/>
            <p:nvPr/>
          </p:nvPicPr>
          <p:blipFill rotWithShape="1">
            <a:blip r:embed="rId3">
              <a:alphaModFix/>
            </a:blip>
            <a:srcRect b="0" l="0" r="0" t="0"/>
            <a:stretch/>
          </p:blipFill>
          <p:spPr>
            <a:xfrm>
              <a:off x="0" y="0"/>
              <a:ext cx="3429000" cy="3429000"/>
            </a:xfrm>
            <a:prstGeom prst="rect">
              <a:avLst/>
            </a:prstGeom>
            <a:noFill/>
            <a:ln>
              <a:noFill/>
            </a:ln>
          </p:spPr>
        </p:pic>
        <p:sp>
          <p:nvSpPr>
            <p:cNvPr id="82" name="Google Shape;82;p15"/>
            <p:cNvSpPr/>
            <p:nvPr/>
          </p:nvSpPr>
          <p:spPr>
            <a:xfrm>
              <a:off x="0" y="3390900"/>
              <a:ext cx="34290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86" name="Shape 86"/>
        <p:cNvGrpSpPr/>
        <p:nvPr/>
      </p:nvGrpSpPr>
      <p:grpSpPr>
        <a:xfrm>
          <a:off x="0" y="0"/>
          <a:ext cx="0" cy="0"/>
          <a:chOff x="0" y="0"/>
          <a:chExt cx="0" cy="0"/>
        </a:xfrm>
      </p:grpSpPr>
      <p:grpSp>
        <p:nvGrpSpPr>
          <p:cNvPr id="87" name="Google Shape;87;p16"/>
          <p:cNvGrpSpPr/>
          <p:nvPr/>
        </p:nvGrpSpPr>
        <p:grpSpPr>
          <a:xfrm>
            <a:off x="0" y="285750"/>
            <a:ext cx="9144000" cy="381150"/>
            <a:chOff x="0" y="0"/>
            <a:chExt cx="9144000" cy="381150"/>
          </a:xfrm>
        </p:grpSpPr>
        <p:sp>
          <p:nvSpPr>
            <p:cNvPr id="88" name="Google Shape;88;p16"/>
            <p:cNvSpPr/>
            <p:nvPr/>
          </p:nvSpPr>
          <p:spPr>
            <a:xfrm>
              <a:off x="0" y="0"/>
              <a:ext cx="9144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6"/>
            <p:cNvSpPr txBox="1"/>
            <p:nvPr/>
          </p:nvSpPr>
          <p:spPr>
            <a:xfrm>
              <a:off x="571500" y="95250"/>
              <a:ext cx="8001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75569"/>
                  </a:solidFill>
                  <a:latin typeface="Roboto Mono"/>
                  <a:ea typeface="Roboto Mono"/>
                  <a:cs typeface="Roboto Mono"/>
                  <a:sym typeface="Roboto Mono"/>
                </a:rPr>
                <a:t>HUMAN IMPACTS &amp; CLIMATE DRIVERS</a:t>
              </a:r>
              <a:endParaRPr b="1" sz="1200">
                <a:solidFill>
                  <a:srgbClr val="475569"/>
                </a:solidFill>
                <a:latin typeface="Roboto Mono"/>
                <a:ea typeface="Roboto Mono"/>
                <a:cs typeface="Roboto Mono"/>
                <a:sym typeface="Roboto Mono"/>
              </a:endParaRPr>
            </a:p>
          </p:txBody>
        </p:sp>
      </p:grpSp>
      <p:sp>
        <p:nvSpPr>
          <p:cNvPr id="90" name="Google Shape;90;p16"/>
          <p:cNvSpPr/>
          <p:nvPr/>
        </p:nvSpPr>
        <p:spPr>
          <a:xfrm>
            <a:off x="571500" y="4857750"/>
            <a:ext cx="3810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6"/>
          <p:cNvSpPr txBox="1"/>
          <p:nvPr/>
        </p:nvSpPr>
        <p:spPr>
          <a:xfrm>
            <a:off x="571500" y="666750"/>
            <a:ext cx="8001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10">
                <a:solidFill>
                  <a:srgbClr val="D97706"/>
                </a:solidFill>
                <a:latin typeface="Roboto Mono"/>
                <a:ea typeface="Roboto Mono"/>
                <a:cs typeface="Roboto Mono"/>
                <a:sym typeface="Roboto Mono"/>
              </a:rPr>
              <a:t>HUMAN DRIVERS</a:t>
            </a:r>
            <a:endParaRPr b="1" sz="1110">
              <a:solidFill>
                <a:srgbClr val="D97706"/>
              </a:solidFill>
              <a:latin typeface="Roboto Mono"/>
              <a:ea typeface="Roboto Mono"/>
              <a:cs typeface="Roboto Mono"/>
              <a:sym typeface="Roboto Mono"/>
            </a:endParaRPr>
          </a:p>
          <a:p>
            <a:pPr indent="0" lvl="0" marL="0" rtl="0" algn="l">
              <a:spcBef>
                <a:spcPts val="300"/>
              </a:spcBef>
              <a:spcAft>
                <a:spcPts val="0"/>
              </a:spcAft>
              <a:buNone/>
            </a:pPr>
            <a:r>
              <a:rPr b="0" lang="en" sz="1850">
                <a:solidFill>
                  <a:srgbClr val="0F172A"/>
                </a:solidFill>
                <a:latin typeface="Inter ExtraBold"/>
                <a:ea typeface="Inter ExtraBold"/>
                <a:cs typeface="Inter ExtraBold"/>
                <a:sym typeface="Inter ExtraBold"/>
              </a:rPr>
              <a:t>How Industry, Deforestation, and Agriculture Accelerate Warming</a:t>
            </a:r>
            <a:endParaRPr b="0" sz="1850">
              <a:solidFill>
                <a:srgbClr val="0F172A"/>
              </a:solidFill>
              <a:latin typeface="Inter ExtraBold"/>
              <a:ea typeface="Inter ExtraBold"/>
              <a:cs typeface="Inter ExtraBold"/>
              <a:sym typeface="Inter ExtraBold"/>
            </a:endParaRPr>
          </a:p>
        </p:txBody>
      </p:sp>
      <p:sp>
        <p:nvSpPr>
          <p:cNvPr id="92" name="Google Shape;92;p16"/>
          <p:cNvSpPr/>
          <p:nvPr/>
        </p:nvSpPr>
        <p:spPr>
          <a:xfrm>
            <a:off x="3190875" y="1476375"/>
            <a:ext cx="9600" cy="29529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6"/>
          <p:cNvSpPr/>
          <p:nvPr/>
        </p:nvSpPr>
        <p:spPr>
          <a:xfrm>
            <a:off x="5953125" y="1476375"/>
            <a:ext cx="9600" cy="29529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4" name="Google Shape;94;p16"/>
          <p:cNvGrpSpPr/>
          <p:nvPr/>
        </p:nvGrpSpPr>
        <p:grpSpPr>
          <a:xfrm>
            <a:off x="571500" y="1476375"/>
            <a:ext cx="2476500" cy="3086250"/>
            <a:chOff x="571500" y="1476375"/>
            <a:chExt cx="2476500" cy="3086250"/>
          </a:xfrm>
        </p:grpSpPr>
        <p:sp>
          <p:nvSpPr>
            <p:cNvPr id="95" name="Google Shape;95;p16"/>
            <p:cNvSpPr/>
            <p:nvPr/>
          </p:nvSpPr>
          <p:spPr>
            <a:xfrm>
              <a:off x="571500" y="1476375"/>
              <a:ext cx="24765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6"/>
            <p:cNvSpPr txBox="1"/>
            <p:nvPr/>
          </p:nvSpPr>
          <p:spPr>
            <a:xfrm>
              <a:off x="571500" y="1657350"/>
              <a:ext cx="2476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172A"/>
                  </a:solidFill>
                  <a:latin typeface="Roboto Mono"/>
                  <a:ea typeface="Roboto Mono"/>
                  <a:cs typeface="Roboto Mono"/>
                  <a:sym typeface="Roboto Mono"/>
                </a:rPr>
                <a:t>01. FOSSIL FUELS &amp; INDUSTRY</a:t>
              </a:r>
              <a:endParaRPr b="1" sz="1200">
                <a:solidFill>
                  <a:srgbClr val="0F172A"/>
                </a:solidFill>
                <a:latin typeface="Roboto Mono"/>
                <a:ea typeface="Roboto Mono"/>
                <a:cs typeface="Roboto Mono"/>
                <a:sym typeface="Roboto Mono"/>
              </a:endParaRPr>
            </a:p>
          </p:txBody>
        </p:sp>
        <p:sp>
          <p:nvSpPr>
            <p:cNvPr id="97" name="Google Shape;97;p16"/>
            <p:cNvSpPr txBox="1"/>
            <p:nvPr/>
          </p:nvSpPr>
          <p:spPr>
            <a:xfrm>
              <a:off x="571500" y="2181225"/>
              <a:ext cx="2476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475569"/>
                  </a:solidFill>
                  <a:latin typeface="Roboto"/>
                  <a:ea typeface="Roboto"/>
                  <a:cs typeface="Roboto"/>
                  <a:sym typeface="Roboto"/>
                </a:rPr>
                <a:t>Burning fossil fuels and increased industrial production over the last two centuries are significant reasons for accelerated climate change. These activities lead to a massive influx of greenhouse gas emissions into the atmosphere.</a:t>
              </a:r>
              <a:endParaRPr b="0" sz="1150">
                <a:solidFill>
                  <a:srgbClr val="475569"/>
                </a:solidFill>
                <a:latin typeface="Roboto"/>
                <a:ea typeface="Roboto"/>
                <a:cs typeface="Roboto"/>
                <a:sym typeface="Roboto"/>
              </a:endParaRPr>
            </a:p>
          </p:txBody>
        </p:sp>
      </p:grpSp>
      <p:grpSp>
        <p:nvGrpSpPr>
          <p:cNvPr id="98" name="Google Shape;98;p16"/>
          <p:cNvGrpSpPr/>
          <p:nvPr/>
        </p:nvGrpSpPr>
        <p:grpSpPr>
          <a:xfrm>
            <a:off x="3333750" y="1476375"/>
            <a:ext cx="2476500" cy="3086250"/>
            <a:chOff x="3333750" y="1476375"/>
            <a:chExt cx="2476500" cy="3086250"/>
          </a:xfrm>
        </p:grpSpPr>
        <p:sp>
          <p:nvSpPr>
            <p:cNvPr id="99" name="Google Shape;99;p16"/>
            <p:cNvSpPr/>
            <p:nvPr/>
          </p:nvSpPr>
          <p:spPr>
            <a:xfrm>
              <a:off x="3333750" y="1476375"/>
              <a:ext cx="2476500" cy="381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6"/>
            <p:cNvSpPr txBox="1"/>
            <p:nvPr/>
          </p:nvSpPr>
          <p:spPr>
            <a:xfrm>
              <a:off x="3333750" y="1657350"/>
              <a:ext cx="2476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172A"/>
                  </a:solidFill>
                  <a:latin typeface="Roboto Mono"/>
                  <a:ea typeface="Roboto Mono"/>
                  <a:cs typeface="Roboto Mono"/>
                  <a:sym typeface="Roboto Mono"/>
                </a:rPr>
                <a:t>02. DEFORESTATION &amp; LAND USE</a:t>
              </a:r>
              <a:endParaRPr b="1" sz="1200">
                <a:solidFill>
                  <a:srgbClr val="0F172A"/>
                </a:solidFill>
                <a:latin typeface="Roboto Mono"/>
                <a:ea typeface="Roboto Mono"/>
                <a:cs typeface="Roboto Mono"/>
                <a:sym typeface="Roboto Mono"/>
              </a:endParaRPr>
            </a:p>
          </p:txBody>
        </p:sp>
        <p:sp>
          <p:nvSpPr>
            <p:cNvPr id="101" name="Google Shape;101;p16"/>
            <p:cNvSpPr txBox="1"/>
            <p:nvPr/>
          </p:nvSpPr>
          <p:spPr>
            <a:xfrm>
              <a:off x="3333750" y="2181225"/>
              <a:ext cx="2476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475569"/>
                  </a:solidFill>
                  <a:latin typeface="Roboto"/>
                  <a:ea typeface="Roboto"/>
                  <a:cs typeface="Roboto"/>
                  <a:sym typeface="Roboto"/>
                </a:rPr>
                <a:t>Extensive deforestation for urban development and agricultural expansion serve as key drivers of warming. Recognizing these primary causes, from heavy fossil fuel reliance to clearing vital forests, is the first step to halt warming.</a:t>
              </a:r>
              <a:endParaRPr b="0" sz="1150">
                <a:solidFill>
                  <a:srgbClr val="475569"/>
                </a:solidFill>
                <a:latin typeface="Roboto"/>
                <a:ea typeface="Roboto"/>
                <a:cs typeface="Roboto"/>
                <a:sym typeface="Roboto"/>
              </a:endParaRPr>
            </a:p>
          </p:txBody>
        </p:sp>
      </p:grpSp>
      <p:grpSp>
        <p:nvGrpSpPr>
          <p:cNvPr id="102" name="Google Shape;102;p16"/>
          <p:cNvGrpSpPr/>
          <p:nvPr/>
        </p:nvGrpSpPr>
        <p:grpSpPr>
          <a:xfrm>
            <a:off x="6096000" y="1476375"/>
            <a:ext cx="2476500" cy="3086250"/>
            <a:chOff x="6096000" y="1476375"/>
            <a:chExt cx="2476500" cy="3086250"/>
          </a:xfrm>
        </p:grpSpPr>
        <p:sp>
          <p:nvSpPr>
            <p:cNvPr id="103" name="Google Shape;103;p16"/>
            <p:cNvSpPr/>
            <p:nvPr/>
          </p:nvSpPr>
          <p:spPr>
            <a:xfrm>
              <a:off x="6096000" y="1476375"/>
              <a:ext cx="24765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6"/>
            <p:cNvSpPr txBox="1"/>
            <p:nvPr/>
          </p:nvSpPr>
          <p:spPr>
            <a:xfrm>
              <a:off x="6096000" y="1657350"/>
              <a:ext cx="2476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172A"/>
                  </a:solidFill>
                  <a:latin typeface="Roboto Mono"/>
                  <a:ea typeface="Roboto Mono"/>
                  <a:cs typeface="Roboto Mono"/>
                  <a:sym typeface="Roboto Mono"/>
                </a:rPr>
                <a:t>03. INDUSTRIAL WASTE &amp; PLASTICS</a:t>
              </a:r>
              <a:endParaRPr b="1" sz="1200">
                <a:solidFill>
                  <a:srgbClr val="0F172A"/>
                </a:solidFill>
                <a:latin typeface="Roboto Mono"/>
                <a:ea typeface="Roboto Mono"/>
                <a:cs typeface="Roboto Mono"/>
                <a:sym typeface="Roboto Mono"/>
              </a:endParaRPr>
            </a:p>
          </p:txBody>
        </p:sp>
        <p:sp>
          <p:nvSpPr>
            <p:cNvPr id="105" name="Google Shape;105;p16"/>
            <p:cNvSpPr txBox="1"/>
            <p:nvPr/>
          </p:nvSpPr>
          <p:spPr>
            <a:xfrm>
              <a:off x="6096000" y="2181225"/>
              <a:ext cx="2476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475569"/>
                  </a:solidFill>
                  <a:latin typeface="Roboto"/>
                  <a:ea typeface="Roboto"/>
                  <a:cs typeface="Roboto"/>
                  <a:sym typeface="Roboto"/>
                </a:rPr>
                <a:t>Modern industrial practices, such as the rapidly increasing production of disposable plastic products, severely influence the world's ability to manage waste and pollution, showcasing the undeniable human footprint on our planet.</a:t>
              </a:r>
              <a:endParaRPr b="0" sz="1150">
                <a:solidFill>
                  <a:srgbClr val="475569"/>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grpSp>
        <p:nvGrpSpPr>
          <p:cNvPr id="110" name="Google Shape;110;p17"/>
          <p:cNvGrpSpPr/>
          <p:nvPr/>
        </p:nvGrpSpPr>
        <p:grpSpPr>
          <a:xfrm>
            <a:off x="0" y="0"/>
            <a:ext cx="9144000" cy="5143500"/>
            <a:chOff x="0" y="0"/>
            <a:chExt cx="9144000" cy="5143500"/>
          </a:xfrm>
        </p:grpSpPr>
        <p:sp>
          <p:nvSpPr>
            <p:cNvPr id="111" name="Google Shape;111;p17"/>
            <p:cNvSpPr/>
            <p:nvPr/>
          </p:nvSpPr>
          <p:spPr>
            <a:xfrm>
              <a:off x="0" y="0"/>
              <a:ext cx="9144000" cy="5143500"/>
            </a:xfrm>
            <a:prstGeom prst="rect">
              <a:avLst/>
            </a:prstGeom>
            <a:solidFill>
              <a:srgbClr val="E8E8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7"/>
            <p:cNvSpPr/>
            <p:nvPr/>
          </p:nvSpPr>
          <p:spPr>
            <a:xfrm>
              <a:off x="0" y="0"/>
              <a:ext cx="2743200" cy="51435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7"/>
            <p:cNvSpPr/>
            <p:nvPr/>
          </p:nvSpPr>
          <p:spPr>
            <a:xfrm>
              <a:off x="2552700" y="762000"/>
              <a:ext cx="381000" cy="381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4" name="Google Shape;114;p17"/>
            <p:cNvGrpSpPr/>
            <p:nvPr/>
          </p:nvGrpSpPr>
          <p:grpSpPr>
            <a:xfrm>
              <a:off x="571500" y="571500"/>
              <a:ext cx="304800" cy="304800"/>
              <a:chOff x="0" y="0"/>
              <a:chExt cx="304800" cy="304800"/>
            </a:xfrm>
          </p:grpSpPr>
          <p:sp>
            <p:nvSpPr>
              <p:cNvPr id="115" name="Google Shape;115;p17"/>
              <p:cNvSpPr/>
              <p:nvPr/>
            </p:nvSpPr>
            <p:spPr>
              <a:xfrm>
                <a:off x="0" y="0"/>
                <a:ext cx="304800" cy="304800"/>
              </a:xfrm>
              <a:prstGeom prst="ellipse">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7"/>
              <p:cNvSpPr/>
              <p:nvPr/>
            </p:nvSpPr>
            <p:spPr>
              <a:xfrm>
                <a:off x="38100" y="38100"/>
                <a:ext cx="228600" cy="114300"/>
              </a:xfrm>
              <a:custGeom>
                <a:rect b="b" l="l" r="r" t="t"/>
                <a:pathLst>
                  <a:path extrusionOk="0" h="120000" w="120000">
                    <a:moveTo>
                      <a:pt x="0" y="120000"/>
                    </a:moveTo>
                    <a:cubicBezTo>
                      <a:pt x="0" y="53726"/>
                      <a:pt x="26863" y="0"/>
                      <a:pt x="60000" y="0"/>
                    </a:cubicBezTo>
                    <a:cubicBezTo>
                      <a:pt x="93137" y="0"/>
                      <a:pt x="120000" y="53726"/>
                      <a:pt x="120000" y="120000"/>
                    </a:cubicBezTo>
                  </a:path>
                </a:pathLst>
              </a:custGeom>
              <a:solidFill>
                <a:srgbClr val="000000">
                  <a:alpha val="0"/>
                </a:srgbClr>
              </a:solidFill>
              <a:ln cap="flat" cmpd="sng" w="28575">
                <a:solidFill>
                  <a:srgbClr val="F7F7F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7"/>
              <p:cNvSpPr/>
              <p:nvPr/>
            </p:nvSpPr>
            <p:spPr>
              <a:xfrm>
                <a:off x="133350" y="76200"/>
                <a:ext cx="38100" cy="1524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18" name="Google Shape;118;p17"/>
          <p:cNvGrpSpPr/>
          <p:nvPr/>
        </p:nvGrpSpPr>
        <p:grpSpPr>
          <a:xfrm>
            <a:off x="571500" y="1143000"/>
            <a:ext cx="1790700" cy="3428850"/>
            <a:chOff x="571500" y="1143000"/>
            <a:chExt cx="1790700" cy="3428850"/>
          </a:xfrm>
        </p:grpSpPr>
        <p:sp>
          <p:nvSpPr>
            <p:cNvPr id="119" name="Google Shape;119;p17"/>
            <p:cNvSpPr txBox="1"/>
            <p:nvPr/>
          </p:nvSpPr>
          <p:spPr>
            <a:xfrm>
              <a:off x="571500" y="1143000"/>
              <a:ext cx="17907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97706"/>
                  </a:solidFill>
                  <a:latin typeface="Roboto Mono"/>
                  <a:ea typeface="Roboto Mono"/>
                  <a:cs typeface="Roboto Mono"/>
                  <a:sym typeface="Roboto Mono"/>
                </a:rPr>
                <a:t>CLIMATE CRISIS</a:t>
              </a:r>
              <a:endParaRPr b="1" sz="1200">
                <a:solidFill>
                  <a:srgbClr val="D97706"/>
                </a:solidFill>
                <a:latin typeface="Roboto Mono"/>
                <a:ea typeface="Roboto Mono"/>
                <a:cs typeface="Roboto Mono"/>
                <a:sym typeface="Roboto Mono"/>
              </a:endParaRPr>
            </a:p>
            <a:p>
              <a:pPr indent="0" lvl="0" marL="0" rtl="0" algn="l">
                <a:spcBef>
                  <a:spcPts val="600"/>
                </a:spcBef>
                <a:spcAft>
                  <a:spcPts val="0"/>
                </a:spcAft>
                <a:buNone/>
              </a:pPr>
              <a:r>
                <a:rPr b="0" lang="en" sz="2200">
                  <a:solidFill>
                    <a:srgbClr val="FFFFFF"/>
                  </a:solidFill>
                  <a:latin typeface="Inter ExtraBold"/>
                  <a:ea typeface="Inter ExtraBold"/>
                  <a:cs typeface="Inter ExtraBold"/>
                  <a:sym typeface="Inter ExtraBold"/>
                </a:rPr>
                <a:t>Global Impacts</a:t>
              </a:r>
              <a:endParaRPr b="0" sz="2200">
                <a:solidFill>
                  <a:srgbClr val="FFFFFF"/>
                </a:solidFill>
                <a:latin typeface="Inter ExtraBold"/>
                <a:ea typeface="Inter ExtraBold"/>
                <a:cs typeface="Inter ExtraBold"/>
                <a:sym typeface="Inter ExtraBold"/>
              </a:endParaRPr>
            </a:p>
            <a:p>
              <a:pPr indent="0" lvl="0" marL="0" rtl="0" algn="l">
                <a:spcBef>
                  <a:spcPts val="750"/>
                </a:spcBef>
                <a:spcAft>
                  <a:spcPts val="0"/>
                </a:spcAft>
                <a:buNone/>
              </a:pPr>
              <a:r>
                <a:rPr b="0" lang="en" sz="825">
                  <a:solidFill>
                    <a:srgbClr val="E8E8E4"/>
                  </a:solidFill>
                  <a:latin typeface="Roboto"/>
                  <a:ea typeface="Roboto"/>
                  <a:cs typeface="Roboto"/>
                  <a:sym typeface="Roboto"/>
                </a:rPr>
                <a:t>Extreme Weather, Wildfires, &amp; Ecosystem Disruption</a:t>
              </a:r>
              <a:endParaRPr b="0" sz="825">
                <a:solidFill>
                  <a:srgbClr val="E8E8E4"/>
                </a:solidFill>
                <a:latin typeface="Roboto"/>
                <a:ea typeface="Roboto"/>
                <a:cs typeface="Roboto"/>
                <a:sym typeface="Roboto"/>
              </a:endParaRPr>
            </a:p>
          </p:txBody>
        </p:sp>
        <p:grpSp>
          <p:nvGrpSpPr>
            <p:cNvPr id="120" name="Google Shape;120;p17"/>
            <p:cNvGrpSpPr/>
            <p:nvPr/>
          </p:nvGrpSpPr>
          <p:grpSpPr>
            <a:xfrm>
              <a:off x="571500" y="2762250"/>
              <a:ext cx="1790700" cy="1809600"/>
              <a:chOff x="571500" y="2762250"/>
              <a:chExt cx="1790700" cy="1809600"/>
            </a:xfrm>
          </p:grpSpPr>
          <p:sp>
            <p:nvSpPr>
              <p:cNvPr id="121" name="Google Shape;121;p17"/>
              <p:cNvSpPr/>
              <p:nvPr/>
            </p:nvSpPr>
            <p:spPr>
              <a:xfrm>
                <a:off x="571500" y="2762250"/>
                <a:ext cx="1790700" cy="1809600"/>
              </a:xfrm>
              <a:prstGeom prst="roundRect">
                <a:avLst>
                  <a:gd fmla="val 2127" name="adj"/>
                </a:avLst>
              </a:prstGeom>
              <a:solidFill>
                <a:srgbClr val="F7F7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7"/>
              <p:cNvSpPr/>
              <p:nvPr/>
            </p:nvSpPr>
            <p:spPr>
              <a:xfrm>
                <a:off x="571500" y="2762250"/>
                <a:ext cx="76200" cy="1809600"/>
              </a:xfrm>
              <a:prstGeom prst="rect">
                <a:avLst/>
              </a:prstGeom>
              <a:solidFill>
                <a:srgbClr val="B91C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7"/>
              <p:cNvSpPr txBox="1"/>
              <p:nvPr/>
            </p:nvSpPr>
            <p:spPr>
              <a:xfrm>
                <a:off x="762000" y="2914650"/>
                <a:ext cx="14478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20">
                    <a:solidFill>
                      <a:srgbClr val="B91C1C"/>
                    </a:solidFill>
                    <a:latin typeface="Roboto Mono"/>
                    <a:ea typeface="Roboto Mono"/>
                    <a:cs typeface="Roboto Mono"/>
                    <a:sym typeface="Roboto Mono"/>
                  </a:rPr>
                  <a:t>ECONOMIC TOLL</a:t>
                </a:r>
                <a:endParaRPr b="1" sz="1020">
                  <a:solidFill>
                    <a:srgbClr val="B91C1C"/>
                  </a:solidFill>
                  <a:latin typeface="Roboto Mono"/>
                  <a:ea typeface="Roboto Mono"/>
                  <a:cs typeface="Roboto Mono"/>
                  <a:sym typeface="Roboto Mono"/>
                </a:endParaRPr>
              </a:p>
              <a:p>
                <a:pPr indent="0" lvl="0" marL="0" rtl="0" algn="l">
                  <a:spcBef>
                    <a:spcPts val="450"/>
                  </a:spcBef>
                  <a:spcAft>
                    <a:spcPts val="0"/>
                  </a:spcAft>
                  <a:buNone/>
                </a:pPr>
                <a:r>
                  <a:rPr b="1" lang="en" sz="765">
                    <a:solidFill>
                      <a:srgbClr val="0F172A"/>
                    </a:solidFill>
                    <a:latin typeface="Roboto"/>
                    <a:ea typeface="Roboto"/>
                    <a:cs typeface="Roboto"/>
                    <a:sym typeface="Roboto"/>
                  </a:rPr>
                  <a:t>Massive Financial Losses</a:t>
                </a:r>
                <a:endParaRPr b="1" sz="765">
                  <a:solidFill>
                    <a:srgbClr val="0F172A"/>
                  </a:solidFill>
                  <a:latin typeface="Roboto"/>
                  <a:ea typeface="Roboto"/>
                  <a:cs typeface="Roboto"/>
                  <a:sym typeface="Roboto"/>
                </a:endParaRPr>
              </a:p>
              <a:p>
                <a:pPr indent="0" lvl="0" marL="0" rtl="0" algn="l">
                  <a:spcBef>
                    <a:spcPts val="450"/>
                  </a:spcBef>
                  <a:spcAft>
                    <a:spcPts val="0"/>
                  </a:spcAft>
                  <a:buNone/>
                </a:pPr>
                <a:r>
                  <a:rPr b="0" lang="en" sz="701">
                    <a:solidFill>
                      <a:srgbClr val="475569"/>
                    </a:solidFill>
                    <a:latin typeface="Roboto"/>
                    <a:ea typeface="Roboto"/>
                    <a:cs typeface="Roboto"/>
                    <a:sym typeface="Roboto"/>
                  </a:rPr>
                  <a:t>Beyond the environmental toll, these extreme weather events carry profound economic consequences, leading to massive potential financial losses for communities and businesses worldwide as they struggle to recover from continuous climate-related disasters.</a:t>
                </a:r>
                <a:endParaRPr b="0" sz="701">
                  <a:solidFill>
                    <a:srgbClr val="475569"/>
                  </a:solidFill>
                  <a:latin typeface="Roboto"/>
                  <a:ea typeface="Roboto"/>
                  <a:cs typeface="Roboto"/>
                  <a:sym typeface="Roboto"/>
                </a:endParaRPr>
              </a:p>
            </p:txBody>
          </p:sp>
        </p:grpSp>
      </p:grpSp>
      <p:grpSp>
        <p:nvGrpSpPr>
          <p:cNvPr id="124" name="Google Shape;124;p17"/>
          <p:cNvGrpSpPr/>
          <p:nvPr/>
        </p:nvGrpSpPr>
        <p:grpSpPr>
          <a:xfrm>
            <a:off x="3238500" y="952500"/>
            <a:ext cx="5334000" cy="3619650"/>
            <a:chOff x="3238500" y="952500"/>
            <a:chExt cx="5334000" cy="3619650"/>
          </a:xfrm>
        </p:grpSpPr>
        <p:sp>
          <p:nvSpPr>
            <p:cNvPr id="125" name="Google Shape;125;p17"/>
            <p:cNvSpPr txBox="1"/>
            <p:nvPr/>
          </p:nvSpPr>
          <p:spPr>
            <a:xfrm>
              <a:off x="3238500" y="952500"/>
              <a:ext cx="2381400" cy="361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25">
                  <a:solidFill>
                    <a:srgbClr val="065F46"/>
                  </a:solidFill>
                  <a:latin typeface="Roboto Mono"/>
                  <a:ea typeface="Roboto Mono"/>
                  <a:cs typeface="Roboto Mono"/>
                  <a:sym typeface="Roboto Mono"/>
                </a:rPr>
                <a:t>01. WEATHER EXTREMES</a:t>
              </a:r>
              <a:endParaRPr b="1" sz="825">
                <a:solidFill>
                  <a:srgbClr val="065F46"/>
                </a:solidFill>
                <a:latin typeface="Roboto Mono"/>
                <a:ea typeface="Roboto Mono"/>
                <a:cs typeface="Roboto Mono"/>
                <a:sym typeface="Roboto Mono"/>
              </a:endParaRPr>
            </a:p>
            <a:p>
              <a:pPr indent="0" lvl="0" marL="0" rtl="0" algn="l">
                <a:spcBef>
                  <a:spcPts val="600"/>
                </a:spcBef>
                <a:spcAft>
                  <a:spcPts val="0"/>
                </a:spcAft>
                <a:buNone/>
              </a:pPr>
              <a:r>
                <a:rPr b="0" lang="en" sz="1050">
                  <a:solidFill>
                    <a:srgbClr val="0F172A"/>
                  </a:solidFill>
                  <a:latin typeface="Roboto"/>
                  <a:ea typeface="Roboto"/>
                  <a:cs typeface="Roboto"/>
                  <a:sym typeface="Roboto"/>
                </a:rPr>
                <a:t>The extra heat trapped in the Earth system drastically affects the climate system and the daily weather we experience. We can directly tie this extra heat to a significant rise in extreme weather events, including stronger storms, devastating flooding, and intense heat waves.</a:t>
              </a:r>
              <a:endParaRPr b="0" sz="1050">
                <a:solidFill>
                  <a:srgbClr val="0F172A"/>
                </a:solidFill>
                <a:latin typeface="Roboto"/>
                <a:ea typeface="Roboto"/>
                <a:cs typeface="Roboto"/>
                <a:sym typeface="Roboto"/>
              </a:endParaRPr>
            </a:p>
          </p:txBody>
        </p:sp>
        <p:grpSp>
          <p:nvGrpSpPr>
            <p:cNvPr id="126" name="Google Shape;126;p17"/>
            <p:cNvGrpSpPr/>
            <p:nvPr/>
          </p:nvGrpSpPr>
          <p:grpSpPr>
            <a:xfrm>
              <a:off x="5905500" y="952500"/>
              <a:ext cx="2667000" cy="3619650"/>
              <a:chOff x="5905500" y="952500"/>
              <a:chExt cx="2667000" cy="3619650"/>
            </a:xfrm>
          </p:grpSpPr>
          <p:grpSp>
            <p:nvGrpSpPr>
              <p:cNvPr id="127" name="Google Shape;127;p17"/>
              <p:cNvGrpSpPr/>
              <p:nvPr/>
            </p:nvGrpSpPr>
            <p:grpSpPr>
              <a:xfrm>
                <a:off x="5905500" y="952500"/>
                <a:ext cx="2667000" cy="2000250"/>
                <a:chOff x="5905500" y="952500"/>
                <a:chExt cx="2667000" cy="2000250"/>
              </a:xfrm>
            </p:grpSpPr>
            <p:pic>
              <p:nvPicPr>
                <p:cNvPr id="128" name="Google Shape;128;p17"/>
                <p:cNvPicPr preferRelativeResize="0"/>
                <p:nvPr/>
              </p:nvPicPr>
              <p:blipFill rotWithShape="1">
                <a:blip r:embed="rId3">
                  <a:alphaModFix/>
                </a:blip>
                <a:srcRect b="0" l="0" r="0" t="0"/>
                <a:stretch/>
              </p:blipFill>
              <p:spPr>
                <a:xfrm>
                  <a:off x="5905500" y="952500"/>
                  <a:ext cx="2667000" cy="2000100"/>
                </a:xfrm>
                <a:prstGeom prst="rect">
                  <a:avLst/>
                </a:prstGeom>
                <a:noFill/>
                <a:ln>
                  <a:noFill/>
                </a:ln>
              </p:spPr>
            </p:pic>
            <p:sp>
              <p:nvSpPr>
                <p:cNvPr id="129" name="Google Shape;129;p17"/>
                <p:cNvSpPr/>
                <p:nvPr/>
              </p:nvSpPr>
              <p:spPr>
                <a:xfrm>
                  <a:off x="5905500" y="2914650"/>
                  <a:ext cx="26670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0" name="Google Shape;130;p17"/>
              <p:cNvSpPr txBox="1"/>
              <p:nvPr/>
            </p:nvSpPr>
            <p:spPr>
              <a:xfrm>
                <a:off x="5905500" y="3143250"/>
                <a:ext cx="2667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25">
                    <a:solidFill>
                      <a:srgbClr val="065F46"/>
                    </a:solidFill>
                    <a:latin typeface="Roboto Mono"/>
                    <a:ea typeface="Roboto Mono"/>
                    <a:cs typeface="Roboto Mono"/>
                    <a:sym typeface="Roboto Mono"/>
                  </a:rPr>
                  <a:t>02. ECOSYSTEM DISRUPTION</a:t>
                </a:r>
                <a:endParaRPr b="1" sz="825">
                  <a:solidFill>
                    <a:srgbClr val="065F46"/>
                  </a:solidFill>
                  <a:latin typeface="Roboto Mono"/>
                  <a:ea typeface="Roboto Mono"/>
                  <a:cs typeface="Roboto Mono"/>
                  <a:sym typeface="Roboto Mono"/>
                </a:endParaRPr>
              </a:p>
              <a:p>
                <a:pPr indent="0" lvl="0" marL="0" rtl="0" algn="l">
                  <a:spcBef>
                    <a:spcPts val="600"/>
                  </a:spcBef>
                  <a:spcAft>
                    <a:spcPts val="0"/>
                  </a:spcAft>
                  <a:buNone/>
                </a:pPr>
                <a:r>
                  <a:rPr b="0" lang="en" sz="1050">
                    <a:solidFill>
                      <a:srgbClr val="0F172A"/>
                    </a:solidFill>
                    <a:latin typeface="Roboto"/>
                    <a:ea typeface="Roboto"/>
                    <a:cs typeface="Roboto"/>
                    <a:sym typeface="Roboto"/>
                  </a:rPr>
                  <a:t>Warming temperatures are responsible for melting sea ice and the wider spread of disease vectors. Regional impacts are already visible; for instance, the ongoing severe drought in California is an event that scientists confirm is much more likely to occur in a warming climate.</a:t>
                </a:r>
                <a:endParaRPr b="0" sz="1050">
                  <a:solidFill>
                    <a:srgbClr val="0F172A"/>
                  </a:solidFill>
                  <a:latin typeface="Roboto"/>
                  <a:ea typeface="Roboto"/>
                  <a:cs typeface="Roboto"/>
                  <a:sym typeface="Roboto"/>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grpSp>
        <p:nvGrpSpPr>
          <p:cNvPr id="135" name="Google Shape;135;p18"/>
          <p:cNvGrpSpPr/>
          <p:nvPr/>
        </p:nvGrpSpPr>
        <p:grpSpPr>
          <a:xfrm>
            <a:off x="0" y="0"/>
            <a:ext cx="9144000" cy="5143500"/>
            <a:chOff x="0" y="0"/>
            <a:chExt cx="9144000" cy="5143500"/>
          </a:xfrm>
        </p:grpSpPr>
        <p:sp>
          <p:nvSpPr>
            <p:cNvPr id="136" name="Google Shape;136;p18"/>
            <p:cNvSpPr/>
            <p:nvPr/>
          </p:nvSpPr>
          <p:spPr>
            <a:xfrm>
              <a:off x="0" y="0"/>
              <a:ext cx="9144000" cy="5143500"/>
            </a:xfrm>
            <a:prstGeom prst="rect">
              <a:avLst/>
            </a:prstGeom>
            <a:solidFill>
              <a:srgbClr val="F7F7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7" name="Google Shape;137;p18"/>
            <p:cNvGrpSpPr/>
            <p:nvPr/>
          </p:nvGrpSpPr>
          <p:grpSpPr>
            <a:xfrm>
              <a:off x="0" y="285750"/>
              <a:ext cx="9144000" cy="381150"/>
              <a:chOff x="0" y="0"/>
              <a:chExt cx="9144000" cy="381150"/>
            </a:xfrm>
          </p:grpSpPr>
          <p:sp>
            <p:nvSpPr>
              <p:cNvPr id="138" name="Google Shape;138;p18"/>
              <p:cNvSpPr/>
              <p:nvPr/>
            </p:nvSpPr>
            <p:spPr>
              <a:xfrm>
                <a:off x="0" y="0"/>
                <a:ext cx="9144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8"/>
              <p:cNvSpPr txBox="1"/>
              <p:nvPr/>
            </p:nvSpPr>
            <p:spPr>
              <a:xfrm>
                <a:off x="571500" y="95250"/>
                <a:ext cx="8001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75569"/>
                    </a:solidFill>
                    <a:latin typeface="Roboto Mono"/>
                    <a:ea typeface="Roboto Mono"/>
                    <a:cs typeface="Roboto Mono"/>
                    <a:sym typeface="Roboto Mono"/>
                  </a:rPr>
                  <a:t>GLOBAL CLIMATE ACTION REPORT</a:t>
                </a:r>
                <a:endParaRPr b="1" sz="1200">
                  <a:solidFill>
                    <a:srgbClr val="475569"/>
                  </a:solidFill>
                  <a:latin typeface="Roboto Mono"/>
                  <a:ea typeface="Roboto Mono"/>
                  <a:cs typeface="Roboto Mono"/>
                  <a:sym typeface="Roboto Mono"/>
                </a:endParaRPr>
              </a:p>
            </p:txBody>
          </p:sp>
        </p:grpSp>
        <p:sp>
          <p:nvSpPr>
            <p:cNvPr id="140" name="Google Shape;140;p18"/>
            <p:cNvSpPr/>
            <p:nvPr/>
          </p:nvSpPr>
          <p:spPr>
            <a:xfrm>
              <a:off x="571500" y="4857750"/>
              <a:ext cx="3810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1" name="Google Shape;141;p18"/>
          <p:cNvSpPr txBox="1"/>
          <p:nvPr/>
        </p:nvSpPr>
        <p:spPr>
          <a:xfrm>
            <a:off x="571500" y="666750"/>
            <a:ext cx="8001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035">
                <a:solidFill>
                  <a:srgbClr val="0F172A"/>
                </a:solidFill>
                <a:latin typeface="Inter SemiBold"/>
                <a:ea typeface="Inter SemiBold"/>
                <a:cs typeface="Inter SemiBold"/>
                <a:sym typeface="Inter SemiBold"/>
              </a:rPr>
              <a:t>Rising Seas: The Multi-Faceted Threat to Coastal Communities</a:t>
            </a:r>
            <a:endParaRPr b="0" sz="2035">
              <a:solidFill>
                <a:srgbClr val="0F172A"/>
              </a:solidFill>
              <a:latin typeface="Inter SemiBold"/>
              <a:ea typeface="Inter SemiBold"/>
              <a:cs typeface="Inter SemiBold"/>
              <a:sym typeface="Inter SemiBold"/>
            </a:endParaRPr>
          </a:p>
        </p:txBody>
      </p:sp>
      <p:sp>
        <p:nvSpPr>
          <p:cNvPr id="142" name="Google Shape;142;p18"/>
          <p:cNvSpPr/>
          <p:nvPr/>
        </p:nvSpPr>
        <p:spPr>
          <a:xfrm>
            <a:off x="571500" y="1285875"/>
            <a:ext cx="8001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3" name="Google Shape;143;p18"/>
          <p:cNvGrpSpPr/>
          <p:nvPr/>
        </p:nvGrpSpPr>
        <p:grpSpPr>
          <a:xfrm>
            <a:off x="571500" y="1476375"/>
            <a:ext cx="3809925" cy="2952750"/>
            <a:chOff x="571500" y="1476375"/>
            <a:chExt cx="3809925" cy="2952750"/>
          </a:xfrm>
        </p:grpSpPr>
        <p:sp>
          <p:nvSpPr>
            <p:cNvPr id="144" name="Google Shape;144;p18"/>
            <p:cNvSpPr/>
            <p:nvPr/>
          </p:nvSpPr>
          <p:spPr>
            <a:xfrm>
              <a:off x="571500" y="1581150"/>
              <a:ext cx="95400" cy="954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8"/>
            <p:cNvSpPr txBox="1"/>
            <p:nvPr/>
          </p:nvSpPr>
          <p:spPr>
            <a:xfrm>
              <a:off x="809625" y="1476375"/>
              <a:ext cx="35718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0F172A"/>
                  </a:solidFill>
                  <a:latin typeface="Inter"/>
                  <a:ea typeface="Inter"/>
                  <a:cs typeface="Inter"/>
                  <a:sym typeface="Inter"/>
                </a:rPr>
                <a:t>Catastrophic Flooding &amp; Land Loss</a:t>
              </a:r>
              <a:endParaRPr b="1" sz="1250">
                <a:solidFill>
                  <a:srgbClr val="0F172A"/>
                </a:solidFill>
                <a:latin typeface="Inter"/>
                <a:ea typeface="Inter"/>
                <a:cs typeface="Inter"/>
                <a:sym typeface="Inter"/>
              </a:endParaRPr>
            </a:p>
            <a:p>
              <a:pPr indent="0" lvl="0" marL="0" rtl="0" algn="l">
                <a:spcBef>
                  <a:spcPts val="300"/>
                </a:spcBef>
                <a:spcAft>
                  <a:spcPts val="0"/>
                </a:spcAft>
                <a:buNone/>
              </a:pPr>
              <a:r>
                <a:rPr b="0" lang="en" sz="1050">
                  <a:solidFill>
                    <a:srgbClr val="475569"/>
                  </a:solidFill>
                  <a:latin typeface="Roboto"/>
                  <a:ea typeface="Roboto"/>
                  <a:cs typeface="Roboto"/>
                  <a:sym typeface="Roboto"/>
                </a:rPr>
                <a:t>This phenomenon poses severe threats to coastal communities, primarily through catastrophic flooding and the gradual loss of habitable land.</a:t>
              </a:r>
              <a:endParaRPr b="0" sz="1050">
                <a:solidFill>
                  <a:srgbClr val="475569"/>
                </a:solidFill>
                <a:latin typeface="Roboto"/>
                <a:ea typeface="Roboto"/>
                <a:cs typeface="Roboto"/>
                <a:sym typeface="Roboto"/>
              </a:endParaRPr>
            </a:p>
          </p:txBody>
        </p:sp>
        <p:sp>
          <p:nvSpPr>
            <p:cNvPr id="146" name="Google Shape;146;p18"/>
            <p:cNvSpPr/>
            <p:nvPr/>
          </p:nvSpPr>
          <p:spPr>
            <a:xfrm>
              <a:off x="571500" y="2581275"/>
              <a:ext cx="95400" cy="954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8"/>
            <p:cNvSpPr txBox="1"/>
            <p:nvPr/>
          </p:nvSpPr>
          <p:spPr>
            <a:xfrm>
              <a:off x="809625" y="2476500"/>
              <a:ext cx="35718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0F172A"/>
                  </a:solidFill>
                  <a:latin typeface="Inter"/>
                  <a:ea typeface="Inter"/>
                  <a:cs typeface="Inter"/>
                  <a:sym typeface="Inter"/>
                </a:rPr>
                <a:t>Rapidly Melting Glaciers</a:t>
              </a:r>
              <a:endParaRPr b="1" sz="1250">
                <a:solidFill>
                  <a:srgbClr val="0F172A"/>
                </a:solidFill>
                <a:latin typeface="Inter"/>
                <a:ea typeface="Inter"/>
                <a:cs typeface="Inter"/>
                <a:sym typeface="Inter"/>
              </a:endParaRPr>
            </a:p>
            <a:p>
              <a:pPr indent="0" lvl="0" marL="0" rtl="0" algn="l">
                <a:spcBef>
                  <a:spcPts val="300"/>
                </a:spcBef>
                <a:spcAft>
                  <a:spcPts val="0"/>
                </a:spcAft>
                <a:buNone/>
              </a:pPr>
              <a:r>
                <a:rPr b="0" lang="en" sz="1050">
                  <a:solidFill>
                    <a:srgbClr val="475569"/>
                  </a:solidFill>
                  <a:latin typeface="Roboto"/>
                  <a:ea typeface="Roboto"/>
                  <a:cs typeface="Roboto"/>
                  <a:sym typeface="Roboto"/>
                </a:rPr>
                <a:t>Global climate change is rapidly melting the world's glaciers, which directly results in raising sea levels across the globe.</a:t>
              </a:r>
              <a:endParaRPr b="0" sz="1050">
                <a:solidFill>
                  <a:srgbClr val="475569"/>
                </a:solidFill>
                <a:latin typeface="Roboto"/>
                <a:ea typeface="Roboto"/>
                <a:cs typeface="Roboto"/>
                <a:sym typeface="Roboto"/>
              </a:endParaRPr>
            </a:p>
          </p:txBody>
        </p:sp>
        <p:sp>
          <p:nvSpPr>
            <p:cNvPr id="148" name="Google Shape;148;p18"/>
            <p:cNvSpPr/>
            <p:nvPr/>
          </p:nvSpPr>
          <p:spPr>
            <a:xfrm>
              <a:off x="571500" y="3581400"/>
              <a:ext cx="95400" cy="954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8"/>
            <p:cNvSpPr txBox="1"/>
            <p:nvPr/>
          </p:nvSpPr>
          <p:spPr>
            <a:xfrm>
              <a:off x="809625" y="3476625"/>
              <a:ext cx="35718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0F172A"/>
                  </a:solidFill>
                  <a:latin typeface="Inter"/>
                  <a:ea typeface="Inter"/>
                  <a:cs typeface="Inter"/>
                  <a:sym typeface="Inter"/>
                </a:rPr>
                <a:t>Stark Economic Costs</a:t>
              </a:r>
              <a:endParaRPr b="1" sz="1250">
                <a:solidFill>
                  <a:srgbClr val="0F172A"/>
                </a:solidFill>
                <a:latin typeface="Inter"/>
                <a:ea typeface="Inter"/>
                <a:cs typeface="Inter"/>
                <a:sym typeface="Inter"/>
              </a:endParaRPr>
            </a:p>
            <a:p>
              <a:pPr indent="0" lvl="0" marL="0" rtl="0" algn="l">
                <a:spcBef>
                  <a:spcPts val="300"/>
                </a:spcBef>
                <a:spcAft>
                  <a:spcPts val="0"/>
                </a:spcAft>
                <a:buNone/>
              </a:pPr>
              <a:r>
                <a:rPr b="0" lang="en" sz="1050">
                  <a:solidFill>
                    <a:srgbClr val="475569"/>
                  </a:solidFill>
                  <a:latin typeface="Roboto"/>
                  <a:ea typeface="Roboto"/>
                  <a:cs typeface="Roboto"/>
                  <a:sym typeface="Roboto"/>
                </a:rPr>
                <a:t>Massive potential financial losses are associated directly with sea level rise and related extreme weather events across vulnerable areas.</a:t>
              </a:r>
              <a:endParaRPr b="0" sz="1050">
                <a:solidFill>
                  <a:srgbClr val="475569"/>
                </a:solidFill>
                <a:latin typeface="Roboto"/>
                <a:ea typeface="Roboto"/>
                <a:cs typeface="Roboto"/>
                <a:sym typeface="Roboto"/>
              </a:endParaRPr>
            </a:p>
          </p:txBody>
        </p:sp>
      </p:grpSp>
      <p:sp>
        <p:nvSpPr>
          <p:cNvPr id="150" name="Google Shape;150;p18"/>
          <p:cNvSpPr/>
          <p:nvPr/>
        </p:nvSpPr>
        <p:spPr>
          <a:xfrm>
            <a:off x="4572000" y="1476375"/>
            <a:ext cx="9600" cy="31434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1" name="Google Shape;151;p18"/>
          <p:cNvGrpSpPr/>
          <p:nvPr/>
        </p:nvGrpSpPr>
        <p:grpSpPr>
          <a:xfrm>
            <a:off x="4762500" y="1476375"/>
            <a:ext cx="3810000" cy="3143325"/>
            <a:chOff x="4762500" y="1476375"/>
            <a:chExt cx="3810000" cy="3143325"/>
          </a:xfrm>
        </p:grpSpPr>
        <p:sp>
          <p:nvSpPr>
            <p:cNvPr id="152" name="Google Shape;152;p18"/>
            <p:cNvSpPr txBox="1"/>
            <p:nvPr/>
          </p:nvSpPr>
          <p:spPr>
            <a:xfrm>
              <a:off x="4762500" y="1476375"/>
              <a:ext cx="38100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65F46"/>
                  </a:solidFill>
                  <a:latin typeface="Roboto Mono"/>
                  <a:ea typeface="Roboto Mono"/>
                  <a:cs typeface="Roboto Mono"/>
                  <a:sym typeface="Roboto Mono"/>
                </a:rPr>
                <a:t>ADAPTATION STRATEGIES</a:t>
              </a:r>
              <a:endParaRPr b="1" sz="1200">
                <a:solidFill>
                  <a:srgbClr val="065F46"/>
                </a:solidFill>
                <a:latin typeface="Roboto Mono"/>
                <a:ea typeface="Roboto Mono"/>
                <a:cs typeface="Roboto Mono"/>
                <a:sym typeface="Roboto Mono"/>
              </a:endParaRPr>
            </a:p>
            <a:p>
              <a:pPr indent="0" lvl="0" marL="0" rtl="0" algn="l">
                <a:spcBef>
                  <a:spcPts val="450"/>
                </a:spcBef>
                <a:spcAft>
                  <a:spcPts val="0"/>
                </a:spcAft>
                <a:buNone/>
              </a:pPr>
              <a:r>
                <a:rPr b="1" lang="en" sz="1500">
                  <a:solidFill>
                    <a:srgbClr val="0F172A"/>
                  </a:solidFill>
                  <a:latin typeface="Inter"/>
                  <a:ea typeface="Inter"/>
                  <a:cs typeface="Inter"/>
                  <a:sym typeface="Inter"/>
                </a:rPr>
                <a:t>Building Coastal Resilience</a:t>
              </a:r>
              <a:endParaRPr b="1" sz="1500">
                <a:solidFill>
                  <a:srgbClr val="0F172A"/>
                </a:solidFill>
                <a:latin typeface="Inter"/>
                <a:ea typeface="Inter"/>
                <a:cs typeface="Inter"/>
                <a:sym typeface="Inter"/>
              </a:endParaRPr>
            </a:p>
            <a:p>
              <a:pPr indent="0" lvl="0" marL="0" rtl="0" algn="l">
                <a:spcBef>
                  <a:spcPts val="600"/>
                </a:spcBef>
                <a:spcAft>
                  <a:spcPts val="0"/>
                </a:spcAft>
                <a:buNone/>
              </a:pPr>
              <a:r>
                <a:rPr b="0" lang="en" sz="1100">
                  <a:solidFill>
                    <a:srgbClr val="475569"/>
                  </a:solidFill>
                  <a:latin typeface="Roboto"/>
                  <a:ea typeface="Roboto"/>
                  <a:cs typeface="Roboto"/>
                  <a:sym typeface="Roboto"/>
                </a:rPr>
                <a:t>To combat this, communities must focus on adaptation—developing ways to protect people and places from a changing climate.</a:t>
              </a:r>
              <a:endParaRPr b="0" sz="1100">
                <a:solidFill>
                  <a:srgbClr val="475569"/>
                </a:solidFill>
                <a:latin typeface="Roboto"/>
                <a:ea typeface="Roboto"/>
                <a:cs typeface="Roboto"/>
                <a:sym typeface="Roboto"/>
              </a:endParaRPr>
            </a:p>
          </p:txBody>
        </p:sp>
        <p:grpSp>
          <p:nvGrpSpPr>
            <p:cNvPr id="153" name="Google Shape;153;p18"/>
            <p:cNvGrpSpPr/>
            <p:nvPr/>
          </p:nvGrpSpPr>
          <p:grpSpPr>
            <a:xfrm>
              <a:off x="4762500" y="2857500"/>
              <a:ext cx="1762200" cy="1762200"/>
              <a:chOff x="4762500" y="2857500"/>
              <a:chExt cx="1762200" cy="1762200"/>
            </a:xfrm>
          </p:grpSpPr>
          <p:pic>
            <p:nvPicPr>
              <p:cNvPr id="154" name="Google Shape;154;p18"/>
              <p:cNvPicPr preferRelativeResize="0"/>
              <p:nvPr/>
            </p:nvPicPr>
            <p:blipFill rotWithShape="1">
              <a:blip r:embed="rId3">
                <a:alphaModFix/>
              </a:blip>
              <a:srcRect b="0" l="0" r="0" t="0"/>
              <a:stretch/>
            </p:blipFill>
            <p:spPr>
              <a:xfrm>
                <a:off x="4762500" y="2857500"/>
                <a:ext cx="1762200" cy="1762200"/>
              </a:xfrm>
              <a:prstGeom prst="rect">
                <a:avLst/>
              </a:prstGeom>
              <a:noFill/>
              <a:ln>
                <a:noFill/>
              </a:ln>
            </p:spPr>
          </p:pic>
          <p:sp>
            <p:nvSpPr>
              <p:cNvPr id="155" name="Google Shape;155;p18"/>
              <p:cNvSpPr/>
              <p:nvPr/>
            </p:nvSpPr>
            <p:spPr>
              <a:xfrm>
                <a:off x="4762500" y="4581525"/>
                <a:ext cx="17622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6" name="Google Shape;156;p18"/>
            <p:cNvGrpSpPr/>
            <p:nvPr/>
          </p:nvGrpSpPr>
          <p:grpSpPr>
            <a:xfrm>
              <a:off x="6715125" y="2857500"/>
              <a:ext cx="1857300" cy="1762200"/>
              <a:chOff x="6715125" y="2857500"/>
              <a:chExt cx="1857300" cy="1762200"/>
            </a:xfrm>
          </p:grpSpPr>
          <p:sp>
            <p:nvSpPr>
              <p:cNvPr id="157" name="Google Shape;157;p18"/>
              <p:cNvSpPr/>
              <p:nvPr/>
            </p:nvSpPr>
            <p:spPr>
              <a:xfrm>
                <a:off x="6715125" y="2857500"/>
                <a:ext cx="1857300" cy="1762200"/>
              </a:xfrm>
              <a:prstGeom prst="rect">
                <a:avLst/>
              </a:prstGeom>
              <a:solidFill>
                <a:srgbClr val="E8E8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8"/>
              <p:cNvSpPr/>
              <p:nvPr/>
            </p:nvSpPr>
            <p:spPr>
              <a:xfrm>
                <a:off x="6715125" y="2857500"/>
                <a:ext cx="57300" cy="17622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8"/>
              <p:cNvSpPr txBox="1"/>
              <p:nvPr/>
            </p:nvSpPr>
            <p:spPr>
              <a:xfrm>
                <a:off x="6905625" y="3000375"/>
                <a:ext cx="15717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65F46"/>
                    </a:solidFill>
                    <a:latin typeface="Roboto Mono"/>
                    <a:ea typeface="Roboto Mono"/>
                    <a:cs typeface="Roboto Mono"/>
                    <a:sym typeface="Roboto Mono"/>
                  </a:rPr>
                  <a:t>PRACTICAL SOLUTIONS</a:t>
                </a:r>
                <a:endParaRPr b="1" sz="900">
                  <a:solidFill>
                    <a:srgbClr val="065F46"/>
                  </a:solidFill>
                  <a:latin typeface="Roboto Mono"/>
                  <a:ea typeface="Roboto Mono"/>
                  <a:cs typeface="Roboto Mono"/>
                  <a:sym typeface="Roboto Mono"/>
                </a:endParaRPr>
              </a:p>
              <a:p>
                <a:pPr indent="0" lvl="0" marL="0" rtl="0" algn="l">
                  <a:spcBef>
                    <a:spcPts val="600"/>
                  </a:spcBef>
                  <a:spcAft>
                    <a:spcPts val="0"/>
                  </a:spcAft>
                  <a:buNone/>
                </a:pPr>
                <a:r>
                  <a:rPr b="1" lang="en" sz="1100">
                    <a:solidFill>
                      <a:srgbClr val="0F172A"/>
                    </a:solidFill>
                    <a:latin typeface="Inter"/>
                    <a:ea typeface="Inter"/>
                    <a:cs typeface="Inter"/>
                    <a:sym typeface="Inter"/>
                  </a:rPr>
                  <a:t>Architectural</a:t>
                </a:r>
                <a:endParaRPr b="1" sz="1100">
                  <a:solidFill>
                    <a:srgbClr val="0F172A"/>
                  </a:solidFill>
                  <a:latin typeface="Inter"/>
                  <a:ea typeface="Inter"/>
                  <a:cs typeface="Inter"/>
                  <a:sym typeface="Inter"/>
                </a:endParaRPr>
              </a:p>
              <a:p>
                <a:pPr indent="0" lvl="0" marL="0" rtl="0" algn="l">
                  <a:spcBef>
                    <a:spcPts val="150"/>
                  </a:spcBef>
                  <a:spcAft>
                    <a:spcPts val="0"/>
                  </a:spcAft>
                  <a:buNone/>
                </a:pPr>
                <a:r>
                  <a:rPr b="0" lang="en" sz="950">
                    <a:solidFill>
                      <a:srgbClr val="475569"/>
                    </a:solidFill>
                    <a:latin typeface="Roboto"/>
                    <a:ea typeface="Roboto"/>
                    <a:cs typeface="Roboto"/>
                    <a:sym typeface="Roboto"/>
                  </a:rPr>
                  <a:t>Constructing raised houses that will not flood.</a:t>
                </a:r>
                <a:endParaRPr b="0" sz="950">
                  <a:solidFill>
                    <a:srgbClr val="475569"/>
                  </a:solidFill>
                  <a:latin typeface="Roboto"/>
                  <a:ea typeface="Roboto"/>
                  <a:cs typeface="Roboto"/>
                  <a:sym typeface="Roboto"/>
                </a:endParaRPr>
              </a:p>
              <a:p>
                <a:pPr indent="0" lvl="0" marL="0" rtl="0" algn="l">
                  <a:spcBef>
                    <a:spcPts val="750"/>
                  </a:spcBef>
                  <a:spcAft>
                    <a:spcPts val="0"/>
                  </a:spcAft>
                  <a:buNone/>
                </a:pPr>
                <a:r>
                  <a:rPr b="1" lang="en" sz="1100">
                    <a:solidFill>
                      <a:srgbClr val="0F172A"/>
                    </a:solidFill>
                    <a:latin typeface="Inter"/>
                    <a:ea typeface="Inter"/>
                    <a:cs typeface="Inter"/>
                    <a:sym typeface="Inter"/>
                  </a:rPr>
                  <a:t>Municipal Defenses</a:t>
                </a:r>
                <a:endParaRPr b="1" sz="1100">
                  <a:solidFill>
                    <a:srgbClr val="0F172A"/>
                  </a:solidFill>
                  <a:latin typeface="Inter"/>
                  <a:ea typeface="Inter"/>
                  <a:cs typeface="Inter"/>
                  <a:sym typeface="Inter"/>
                </a:endParaRPr>
              </a:p>
              <a:p>
                <a:pPr indent="0" lvl="0" marL="0" rtl="0" algn="l">
                  <a:spcBef>
                    <a:spcPts val="150"/>
                  </a:spcBef>
                  <a:spcAft>
                    <a:spcPts val="0"/>
                  </a:spcAft>
                  <a:buNone/>
                </a:pPr>
                <a:r>
                  <a:rPr b="0" lang="en" sz="950">
                    <a:solidFill>
                      <a:srgbClr val="475569"/>
                    </a:solidFill>
                    <a:latin typeface="Roboto"/>
                    <a:ea typeface="Roboto"/>
                    <a:cs typeface="Roboto"/>
                    <a:sym typeface="Roboto"/>
                  </a:rPr>
                  <a:t>Towns rapidly setting up temporary or permanent walls.</a:t>
                </a:r>
                <a:endParaRPr b="0" sz="950">
                  <a:solidFill>
                    <a:srgbClr val="475569"/>
                  </a:solidFill>
                  <a:latin typeface="Roboto"/>
                  <a:ea typeface="Roboto"/>
                  <a:cs typeface="Roboto"/>
                  <a:sym typeface="Roboto"/>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p:nvPr/>
        </p:nvSpPr>
        <p:spPr>
          <a:xfrm>
            <a:off x="0" y="0"/>
            <a:ext cx="9144000" cy="5143500"/>
          </a:xfrm>
          <a:prstGeom prst="rect">
            <a:avLst/>
          </a:prstGeom>
          <a:solidFill>
            <a:srgbClr val="F7F7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5" name="Google Shape;165;p19"/>
          <p:cNvGrpSpPr/>
          <p:nvPr/>
        </p:nvGrpSpPr>
        <p:grpSpPr>
          <a:xfrm>
            <a:off x="0" y="285750"/>
            <a:ext cx="9144000" cy="381150"/>
            <a:chOff x="0" y="0"/>
            <a:chExt cx="9144000" cy="381150"/>
          </a:xfrm>
        </p:grpSpPr>
        <p:sp>
          <p:nvSpPr>
            <p:cNvPr id="166" name="Google Shape;166;p19"/>
            <p:cNvSpPr/>
            <p:nvPr/>
          </p:nvSpPr>
          <p:spPr>
            <a:xfrm>
              <a:off x="0" y="0"/>
              <a:ext cx="9144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9"/>
            <p:cNvSpPr txBox="1"/>
            <p:nvPr/>
          </p:nvSpPr>
          <p:spPr>
            <a:xfrm>
              <a:off x="571500" y="95250"/>
              <a:ext cx="8001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75569"/>
                  </a:solidFill>
                  <a:latin typeface="Roboto Mono"/>
                  <a:ea typeface="Roboto Mono"/>
                  <a:cs typeface="Roboto Mono"/>
                  <a:sym typeface="Roboto Mono"/>
                </a:rPr>
                <a:t>GLOBAL SOLUTIONS: SCALING RENEWABLE ENERGY &amp; POLICY</a:t>
              </a:r>
              <a:endParaRPr b="1" sz="1200">
                <a:solidFill>
                  <a:srgbClr val="475569"/>
                </a:solidFill>
                <a:latin typeface="Roboto Mono"/>
                <a:ea typeface="Roboto Mono"/>
                <a:cs typeface="Roboto Mono"/>
                <a:sym typeface="Roboto Mono"/>
              </a:endParaRPr>
            </a:p>
          </p:txBody>
        </p:sp>
      </p:grpSp>
      <p:sp>
        <p:nvSpPr>
          <p:cNvPr id="168" name="Google Shape;168;p19"/>
          <p:cNvSpPr txBox="1"/>
          <p:nvPr/>
        </p:nvSpPr>
        <p:spPr>
          <a:xfrm>
            <a:off x="571500" y="619125"/>
            <a:ext cx="8001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F172A"/>
                </a:solidFill>
                <a:latin typeface="Inter ExtraBold"/>
                <a:ea typeface="Inter ExtraBold"/>
                <a:cs typeface="Inter ExtraBold"/>
                <a:sym typeface="Inter ExtraBold"/>
              </a:rPr>
              <a:t>Global Solutions: Scaling Renewable Energy</a:t>
            </a:r>
            <a:endParaRPr b="0" sz="2400">
              <a:solidFill>
                <a:srgbClr val="0F172A"/>
              </a:solidFill>
              <a:latin typeface="Inter ExtraBold"/>
              <a:ea typeface="Inter ExtraBold"/>
              <a:cs typeface="Inter ExtraBold"/>
              <a:sym typeface="Inter ExtraBold"/>
            </a:endParaRPr>
          </a:p>
        </p:txBody>
      </p:sp>
      <p:sp>
        <p:nvSpPr>
          <p:cNvPr id="169" name="Google Shape;169;p19"/>
          <p:cNvSpPr txBox="1"/>
          <p:nvPr/>
        </p:nvSpPr>
        <p:spPr>
          <a:xfrm>
            <a:off x="571500" y="1000125"/>
            <a:ext cx="80010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00">
                <a:solidFill>
                  <a:srgbClr val="475569"/>
                </a:solidFill>
                <a:latin typeface="Roboto"/>
                <a:ea typeface="Roboto"/>
                <a:cs typeface="Roboto"/>
                <a:sym typeface="Roboto"/>
              </a:rPr>
              <a:t>Together, these mitigation efforts are essential to minimize global warming and promote better climate conditions.</a:t>
            </a:r>
            <a:endParaRPr b="0" i="1" sz="1100">
              <a:solidFill>
                <a:srgbClr val="475569"/>
              </a:solidFill>
              <a:latin typeface="Roboto"/>
              <a:ea typeface="Roboto"/>
              <a:cs typeface="Roboto"/>
              <a:sym typeface="Roboto"/>
            </a:endParaRPr>
          </a:p>
        </p:txBody>
      </p:sp>
      <p:grpSp>
        <p:nvGrpSpPr>
          <p:cNvPr id="170" name="Google Shape;170;p19"/>
          <p:cNvGrpSpPr/>
          <p:nvPr/>
        </p:nvGrpSpPr>
        <p:grpSpPr>
          <a:xfrm>
            <a:off x="571500" y="1428750"/>
            <a:ext cx="8001000" cy="857400"/>
            <a:chOff x="0" y="0"/>
            <a:chExt cx="8001000" cy="857400"/>
          </a:xfrm>
        </p:grpSpPr>
        <p:grpSp>
          <p:nvGrpSpPr>
            <p:cNvPr id="171" name="Google Shape;171;p19"/>
            <p:cNvGrpSpPr/>
            <p:nvPr/>
          </p:nvGrpSpPr>
          <p:grpSpPr>
            <a:xfrm>
              <a:off x="0" y="0"/>
              <a:ext cx="609600" cy="609600"/>
              <a:chOff x="0" y="0"/>
              <a:chExt cx="609600" cy="609600"/>
            </a:xfrm>
          </p:grpSpPr>
          <p:sp>
            <p:nvSpPr>
              <p:cNvPr id="172" name="Google Shape;172;p19"/>
              <p:cNvSpPr/>
              <p:nvPr/>
            </p:nvSpPr>
            <p:spPr>
              <a:xfrm>
                <a:off x="0" y="0"/>
                <a:ext cx="609600" cy="609600"/>
              </a:xfrm>
              <a:prstGeom prst="ellipse">
                <a:avLst/>
              </a:prstGeom>
              <a:solidFill>
                <a:srgbClr val="E8E8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p:nvPr/>
            </p:nvSpPr>
            <p:spPr>
              <a:xfrm>
                <a:off x="133350" y="133350"/>
                <a:ext cx="342900" cy="342900"/>
              </a:xfrm>
              <a:prstGeom prst="ellipse">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9"/>
              <p:cNvSpPr/>
              <p:nvPr/>
            </p:nvSpPr>
            <p:spPr>
              <a:xfrm>
                <a:off x="238125" y="238125"/>
                <a:ext cx="133500" cy="133500"/>
              </a:xfrm>
              <a:prstGeom prst="ellipse">
                <a:avLst/>
              </a:prstGeom>
              <a:solidFill>
                <a:srgbClr val="000000">
                  <a:alpha val="0"/>
                </a:srgbClr>
              </a:solidFill>
              <a:ln cap="flat" cmpd="sng" w="19050">
                <a:solidFill>
                  <a:srgbClr val="F7F7F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9"/>
              <p:cNvSpPr/>
              <p:nvPr/>
            </p:nvSpPr>
            <p:spPr>
              <a:xfrm>
                <a:off x="171450" y="171450"/>
                <a:ext cx="266700" cy="266700"/>
              </a:xfrm>
              <a:custGeom>
                <a:rect b="b" l="l" r="r" t="t"/>
                <a:pathLst>
                  <a:path extrusionOk="0" fill="none" h="120000" w="120000">
                    <a:moveTo>
                      <a:pt x="60000" y="0"/>
                    </a:moveTo>
                    <a:lnTo>
                      <a:pt x="60000" y="12857"/>
                    </a:lnTo>
                    <a:moveTo>
                      <a:pt x="60000" y="107143"/>
                    </a:moveTo>
                    <a:lnTo>
                      <a:pt x="60000" y="120000"/>
                    </a:lnTo>
                    <a:moveTo>
                      <a:pt x="0" y="60000"/>
                    </a:moveTo>
                    <a:lnTo>
                      <a:pt x="12857" y="60000"/>
                    </a:lnTo>
                    <a:moveTo>
                      <a:pt x="107143" y="60000"/>
                    </a:moveTo>
                    <a:lnTo>
                      <a:pt x="120000" y="60000"/>
                    </a:lnTo>
                    <a:moveTo>
                      <a:pt x="17143" y="17143"/>
                    </a:moveTo>
                    <a:lnTo>
                      <a:pt x="25714" y="25714"/>
                    </a:lnTo>
                    <a:moveTo>
                      <a:pt x="94286" y="94286"/>
                    </a:moveTo>
                    <a:lnTo>
                      <a:pt x="102857" y="102857"/>
                    </a:lnTo>
                    <a:moveTo>
                      <a:pt x="17143" y="102857"/>
                    </a:moveTo>
                    <a:lnTo>
                      <a:pt x="25714" y="94286"/>
                    </a:lnTo>
                    <a:moveTo>
                      <a:pt x="94286" y="17143"/>
                    </a:moveTo>
                    <a:lnTo>
                      <a:pt x="102857" y="25714"/>
                    </a:lnTo>
                  </a:path>
                </a:pathLst>
              </a:custGeom>
              <a:solidFill>
                <a:srgbClr val="FFFFFF"/>
              </a:solidFill>
              <a:ln cap="rnd" cmpd="sng" w="19050">
                <a:solidFill>
                  <a:srgbClr val="F7F7F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6" name="Google Shape;176;p19"/>
            <p:cNvSpPr txBox="1"/>
            <p:nvPr/>
          </p:nvSpPr>
          <p:spPr>
            <a:xfrm>
              <a:off x="800100" y="0"/>
              <a:ext cx="72009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65F46"/>
                  </a:solidFill>
                  <a:latin typeface="Roboto Mono"/>
                  <a:ea typeface="Roboto Mono"/>
                  <a:cs typeface="Roboto Mono"/>
                  <a:sym typeface="Roboto Mono"/>
                </a:rPr>
                <a:t>01 / MITIGATION</a:t>
              </a:r>
              <a:r>
                <a:rPr b="1" lang="en" sz="1600">
                  <a:solidFill>
                    <a:srgbClr val="065F46"/>
                  </a:solidFill>
                  <a:latin typeface="Roboto"/>
                  <a:ea typeface="Roboto"/>
                  <a:cs typeface="Roboto"/>
                  <a:sym typeface="Roboto"/>
                </a:rPr>
                <a:t>Transition to Renewable Energy</a:t>
              </a:r>
              <a:endParaRPr b="1" sz="1600">
                <a:solidFill>
                  <a:srgbClr val="065F46"/>
                </a:solidFill>
                <a:latin typeface="Roboto"/>
                <a:ea typeface="Roboto"/>
                <a:cs typeface="Roboto"/>
                <a:sym typeface="Roboto"/>
              </a:endParaRPr>
            </a:p>
            <a:p>
              <a:pPr indent="0" lvl="0" marL="0" rtl="0" algn="l">
                <a:spcBef>
                  <a:spcPts val="300"/>
                </a:spcBef>
                <a:spcAft>
                  <a:spcPts val="0"/>
                </a:spcAft>
                <a:buNone/>
              </a:pPr>
              <a:r>
                <a:rPr b="0" lang="en" sz="1150">
                  <a:solidFill>
                    <a:srgbClr val="475569"/>
                  </a:solidFill>
                  <a:latin typeface="Roboto"/>
                  <a:ea typeface="Roboto"/>
                  <a:cs typeface="Roboto"/>
                  <a:sym typeface="Roboto"/>
                </a:rPr>
                <a:t>The clean energy transition is already underway and serves as a primary solution. By shifting to renewable resources, such as using solar panels to produce clean energy from the sun, we can drastically cut emissions.</a:t>
              </a:r>
              <a:endParaRPr b="0" sz="1150">
                <a:solidFill>
                  <a:srgbClr val="475569"/>
                </a:solidFill>
                <a:latin typeface="Roboto"/>
                <a:ea typeface="Roboto"/>
                <a:cs typeface="Roboto"/>
                <a:sym typeface="Roboto"/>
              </a:endParaRPr>
            </a:p>
          </p:txBody>
        </p:sp>
      </p:grpSp>
      <p:grpSp>
        <p:nvGrpSpPr>
          <p:cNvPr id="177" name="Google Shape;177;p19"/>
          <p:cNvGrpSpPr/>
          <p:nvPr/>
        </p:nvGrpSpPr>
        <p:grpSpPr>
          <a:xfrm>
            <a:off x="571500" y="2524125"/>
            <a:ext cx="8001000" cy="857400"/>
            <a:chOff x="0" y="0"/>
            <a:chExt cx="8001000" cy="857400"/>
          </a:xfrm>
        </p:grpSpPr>
        <p:grpSp>
          <p:nvGrpSpPr>
            <p:cNvPr id="178" name="Google Shape;178;p19"/>
            <p:cNvGrpSpPr/>
            <p:nvPr/>
          </p:nvGrpSpPr>
          <p:grpSpPr>
            <a:xfrm>
              <a:off x="0" y="0"/>
              <a:ext cx="609600" cy="609600"/>
              <a:chOff x="0" y="0"/>
              <a:chExt cx="609600" cy="609600"/>
            </a:xfrm>
          </p:grpSpPr>
          <p:sp>
            <p:nvSpPr>
              <p:cNvPr id="179" name="Google Shape;179;p19"/>
              <p:cNvSpPr/>
              <p:nvPr/>
            </p:nvSpPr>
            <p:spPr>
              <a:xfrm>
                <a:off x="0" y="0"/>
                <a:ext cx="609600" cy="609600"/>
              </a:xfrm>
              <a:prstGeom prst="ellipse">
                <a:avLst/>
              </a:prstGeom>
              <a:solidFill>
                <a:srgbClr val="E8E8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9"/>
              <p:cNvSpPr/>
              <p:nvPr/>
            </p:nvSpPr>
            <p:spPr>
              <a:xfrm>
                <a:off x="133350" y="133350"/>
                <a:ext cx="342900" cy="342900"/>
              </a:xfrm>
              <a:prstGeom prst="ellipse">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9"/>
              <p:cNvSpPr/>
              <p:nvPr/>
            </p:nvSpPr>
            <p:spPr>
              <a:xfrm>
                <a:off x="219075" y="190500"/>
                <a:ext cx="162000" cy="228600"/>
              </a:xfrm>
              <a:custGeom>
                <a:rect b="b" l="l" r="r" t="t"/>
                <a:pathLst>
                  <a:path extrusionOk="0" h="120000" w="120000">
                    <a:moveTo>
                      <a:pt x="70588" y="0"/>
                    </a:moveTo>
                    <a:lnTo>
                      <a:pt x="0" y="60000"/>
                    </a:lnTo>
                    <a:lnTo>
                      <a:pt x="56471" y="60000"/>
                    </a:lnTo>
                    <a:lnTo>
                      <a:pt x="42353" y="120000"/>
                    </a:lnTo>
                    <a:lnTo>
                      <a:pt x="120000" y="55000"/>
                    </a:lnTo>
                    <a:lnTo>
                      <a:pt x="63529" y="55000"/>
                    </a:lnTo>
                    <a:close/>
                  </a:path>
                </a:pathLst>
              </a:custGeom>
              <a:solidFill>
                <a:srgbClr val="F7F7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2" name="Google Shape;182;p19"/>
            <p:cNvSpPr txBox="1"/>
            <p:nvPr/>
          </p:nvSpPr>
          <p:spPr>
            <a:xfrm>
              <a:off x="800100" y="0"/>
              <a:ext cx="72009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65F46"/>
                  </a:solidFill>
                  <a:latin typeface="Roboto Mono"/>
                  <a:ea typeface="Roboto Mono"/>
                  <a:cs typeface="Roboto Mono"/>
                  <a:sym typeface="Roboto Mono"/>
                </a:rPr>
                <a:t>02 / MOBILITY</a:t>
              </a:r>
              <a:r>
                <a:rPr b="1" lang="en" sz="1600">
                  <a:solidFill>
                    <a:srgbClr val="065F46"/>
                  </a:solidFill>
                  <a:latin typeface="Roboto"/>
                  <a:ea typeface="Roboto"/>
                  <a:cs typeface="Roboto"/>
                  <a:sym typeface="Roboto"/>
                </a:rPr>
                <a:t>Electric Transportation</a:t>
              </a:r>
              <a:endParaRPr b="1" sz="1600">
                <a:solidFill>
                  <a:srgbClr val="065F46"/>
                </a:solidFill>
                <a:latin typeface="Roboto"/>
                <a:ea typeface="Roboto"/>
                <a:cs typeface="Roboto"/>
                <a:sym typeface="Roboto"/>
              </a:endParaRPr>
            </a:p>
            <a:p>
              <a:pPr indent="0" lvl="0" marL="0" rtl="0" algn="l">
                <a:spcBef>
                  <a:spcPts val="300"/>
                </a:spcBef>
                <a:spcAft>
                  <a:spcPts val="0"/>
                </a:spcAft>
                <a:buNone/>
              </a:pPr>
              <a:r>
                <a:rPr b="0" lang="en" sz="1150">
                  <a:solidFill>
                    <a:srgbClr val="475569"/>
                  </a:solidFill>
                  <a:latin typeface="Roboto"/>
                  <a:ea typeface="Roboto"/>
                  <a:cs typeface="Roboto"/>
                  <a:sym typeface="Roboto"/>
                </a:rPr>
                <a:t>Adopting electric cars that run off electricity produced from clean sources, rather than gas, is vital for curbing carbon pollution from top-emitting sectors.</a:t>
              </a:r>
              <a:endParaRPr b="0" sz="1150">
                <a:solidFill>
                  <a:srgbClr val="475569"/>
                </a:solidFill>
                <a:latin typeface="Roboto"/>
                <a:ea typeface="Roboto"/>
                <a:cs typeface="Roboto"/>
                <a:sym typeface="Roboto"/>
              </a:endParaRPr>
            </a:p>
          </p:txBody>
        </p:sp>
      </p:grpSp>
      <p:grpSp>
        <p:nvGrpSpPr>
          <p:cNvPr id="183" name="Google Shape;183;p19"/>
          <p:cNvGrpSpPr/>
          <p:nvPr/>
        </p:nvGrpSpPr>
        <p:grpSpPr>
          <a:xfrm>
            <a:off x="571500" y="3619500"/>
            <a:ext cx="8001000" cy="1047900"/>
            <a:chOff x="0" y="0"/>
            <a:chExt cx="8001000" cy="1047900"/>
          </a:xfrm>
        </p:grpSpPr>
        <p:grpSp>
          <p:nvGrpSpPr>
            <p:cNvPr id="184" name="Google Shape;184;p19"/>
            <p:cNvGrpSpPr/>
            <p:nvPr/>
          </p:nvGrpSpPr>
          <p:grpSpPr>
            <a:xfrm>
              <a:off x="0" y="0"/>
              <a:ext cx="609600" cy="609600"/>
              <a:chOff x="0" y="0"/>
              <a:chExt cx="609600" cy="609600"/>
            </a:xfrm>
          </p:grpSpPr>
          <p:sp>
            <p:nvSpPr>
              <p:cNvPr id="185" name="Google Shape;185;p19"/>
              <p:cNvSpPr/>
              <p:nvPr/>
            </p:nvSpPr>
            <p:spPr>
              <a:xfrm>
                <a:off x="0" y="0"/>
                <a:ext cx="609600" cy="609600"/>
              </a:xfrm>
              <a:prstGeom prst="ellipse">
                <a:avLst/>
              </a:prstGeom>
              <a:solidFill>
                <a:srgbClr val="E8E8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9"/>
              <p:cNvSpPr/>
              <p:nvPr/>
            </p:nvSpPr>
            <p:spPr>
              <a:xfrm>
                <a:off x="133350" y="133350"/>
                <a:ext cx="342900" cy="342900"/>
              </a:xfrm>
              <a:prstGeom prst="ellipse">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9"/>
              <p:cNvSpPr/>
              <p:nvPr/>
            </p:nvSpPr>
            <p:spPr>
              <a:xfrm>
                <a:off x="228600" y="190500"/>
                <a:ext cx="152400" cy="228600"/>
              </a:xfrm>
              <a:custGeom>
                <a:rect b="b" l="l" r="r" t="t"/>
                <a:pathLst>
                  <a:path extrusionOk="0" h="120000" w="120000">
                    <a:moveTo>
                      <a:pt x="60000" y="0"/>
                    </a:moveTo>
                    <a:cubicBezTo>
                      <a:pt x="15000" y="20000"/>
                      <a:pt x="0" y="50000"/>
                      <a:pt x="7500" y="80000"/>
                    </a:cubicBezTo>
                    <a:cubicBezTo>
                      <a:pt x="15000" y="100000"/>
                      <a:pt x="37500" y="115000"/>
                      <a:pt x="60000" y="120000"/>
                    </a:cubicBezTo>
                    <a:cubicBezTo>
                      <a:pt x="82500" y="115000"/>
                      <a:pt x="105000" y="100000"/>
                      <a:pt x="112500" y="80000"/>
                    </a:cubicBezTo>
                    <a:cubicBezTo>
                      <a:pt x="120000" y="50000"/>
                      <a:pt x="105000" y="20000"/>
                      <a:pt x="60000" y="0"/>
                    </a:cubicBezTo>
                    <a:close/>
                  </a:path>
                </a:pathLst>
              </a:custGeom>
              <a:solidFill>
                <a:srgbClr val="F7F7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8" name="Google Shape;188;p19"/>
            <p:cNvSpPr txBox="1"/>
            <p:nvPr/>
          </p:nvSpPr>
          <p:spPr>
            <a:xfrm>
              <a:off x="800100" y="0"/>
              <a:ext cx="7200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65F46"/>
                  </a:solidFill>
                  <a:latin typeface="Roboto Mono"/>
                  <a:ea typeface="Roboto Mono"/>
                  <a:cs typeface="Roboto Mono"/>
                  <a:sym typeface="Roboto Mono"/>
                </a:rPr>
                <a:t>03 / BIO-STORAGE</a:t>
              </a:r>
              <a:r>
                <a:rPr b="1" lang="en" sz="1600">
                  <a:solidFill>
                    <a:srgbClr val="065F46"/>
                  </a:solidFill>
                  <a:latin typeface="Roboto"/>
                  <a:ea typeface="Roboto"/>
                  <a:cs typeface="Roboto"/>
                  <a:sym typeface="Roboto"/>
                </a:rPr>
                <a:t>Natural Carbon Sequestration</a:t>
              </a:r>
              <a:endParaRPr b="1" sz="1600">
                <a:solidFill>
                  <a:srgbClr val="065F46"/>
                </a:solidFill>
                <a:latin typeface="Roboto"/>
                <a:ea typeface="Roboto"/>
                <a:cs typeface="Roboto"/>
                <a:sym typeface="Roboto"/>
              </a:endParaRPr>
            </a:p>
            <a:p>
              <a:pPr indent="0" lvl="0" marL="0" rtl="0" algn="l">
                <a:spcBef>
                  <a:spcPts val="300"/>
                </a:spcBef>
                <a:spcAft>
                  <a:spcPts val="0"/>
                </a:spcAft>
                <a:buNone/>
              </a:pPr>
              <a:r>
                <a:rPr b="0" lang="en" sz="1150">
                  <a:solidFill>
                    <a:srgbClr val="475569"/>
                  </a:solidFill>
                  <a:latin typeface="Roboto"/>
                  <a:ea typeface="Roboto"/>
                  <a:cs typeface="Roboto"/>
                  <a:sym typeface="Roboto"/>
                </a:rPr>
                <a:t>Beyond technology, natural solutions play a crucial role; sequestering carbon dioxide in trees and soil through agroforestry farm systems helps minimize greenhouse gas emissions and enhances overall ecosystem resilience to climate variability.</a:t>
              </a:r>
              <a:endParaRPr b="0" sz="1150">
                <a:solidFill>
                  <a:srgbClr val="475569"/>
                </a:solidFill>
                <a:latin typeface="Roboto"/>
                <a:ea typeface="Roboto"/>
                <a:cs typeface="Roboto"/>
                <a:sym typeface="Roboto"/>
              </a:endParaRPr>
            </a:p>
          </p:txBody>
        </p:sp>
      </p:grpSp>
      <p:sp>
        <p:nvSpPr>
          <p:cNvPr id="189" name="Google Shape;189;p19"/>
          <p:cNvSpPr/>
          <p:nvPr/>
        </p:nvSpPr>
        <p:spPr>
          <a:xfrm>
            <a:off x="571500" y="4857750"/>
            <a:ext cx="3810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193" name="Shape 193"/>
        <p:cNvGrpSpPr/>
        <p:nvPr/>
      </p:nvGrpSpPr>
      <p:grpSpPr>
        <a:xfrm>
          <a:off x="0" y="0"/>
          <a:ext cx="0" cy="0"/>
          <a:chOff x="0" y="0"/>
          <a:chExt cx="0" cy="0"/>
        </a:xfrm>
      </p:grpSpPr>
      <p:grpSp>
        <p:nvGrpSpPr>
          <p:cNvPr id="194" name="Google Shape;194;p20"/>
          <p:cNvGrpSpPr/>
          <p:nvPr/>
        </p:nvGrpSpPr>
        <p:grpSpPr>
          <a:xfrm>
            <a:off x="0" y="285750"/>
            <a:ext cx="9144000" cy="381150"/>
            <a:chOff x="0" y="285750"/>
            <a:chExt cx="9144000" cy="381150"/>
          </a:xfrm>
        </p:grpSpPr>
        <p:sp>
          <p:nvSpPr>
            <p:cNvPr id="195" name="Google Shape;195;p20"/>
            <p:cNvSpPr/>
            <p:nvPr/>
          </p:nvSpPr>
          <p:spPr>
            <a:xfrm>
              <a:off x="0" y="285750"/>
              <a:ext cx="9144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20"/>
            <p:cNvSpPr txBox="1"/>
            <p:nvPr/>
          </p:nvSpPr>
          <p:spPr>
            <a:xfrm>
              <a:off x="571500" y="381000"/>
              <a:ext cx="762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475569"/>
                  </a:solidFill>
                  <a:latin typeface="Roboto Mono"/>
                  <a:ea typeface="Roboto Mono"/>
                  <a:cs typeface="Roboto Mono"/>
                  <a:sym typeface="Roboto Mono"/>
                </a:rPr>
                <a:t>CLIMATE CRISIS SOLUTIONS</a:t>
              </a:r>
              <a:endParaRPr b="1" sz="1200">
                <a:solidFill>
                  <a:srgbClr val="475569"/>
                </a:solidFill>
                <a:latin typeface="Roboto Mono"/>
                <a:ea typeface="Roboto Mono"/>
                <a:cs typeface="Roboto Mono"/>
                <a:sym typeface="Roboto Mono"/>
              </a:endParaRPr>
            </a:p>
          </p:txBody>
        </p:sp>
        <p:grpSp>
          <p:nvGrpSpPr>
            <p:cNvPr id="197" name="Google Shape;197;p20"/>
            <p:cNvGrpSpPr/>
            <p:nvPr/>
          </p:nvGrpSpPr>
          <p:grpSpPr>
            <a:xfrm>
              <a:off x="8267700" y="333375"/>
              <a:ext cx="304800" cy="304800"/>
              <a:chOff x="0" y="0"/>
              <a:chExt cx="304800" cy="304800"/>
            </a:xfrm>
          </p:grpSpPr>
          <p:sp>
            <p:nvSpPr>
              <p:cNvPr id="198" name="Google Shape;198;p20"/>
              <p:cNvSpPr/>
              <p:nvPr/>
            </p:nvSpPr>
            <p:spPr>
              <a:xfrm>
                <a:off x="0" y="0"/>
                <a:ext cx="304800" cy="304800"/>
              </a:xfrm>
              <a:prstGeom prst="ellipse">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20"/>
              <p:cNvSpPr/>
              <p:nvPr/>
            </p:nvSpPr>
            <p:spPr>
              <a:xfrm>
                <a:off x="38100" y="38100"/>
                <a:ext cx="228600" cy="114300"/>
              </a:xfrm>
              <a:custGeom>
                <a:rect b="b" l="l" r="r" t="t"/>
                <a:pathLst>
                  <a:path extrusionOk="0" h="120000" w="120000">
                    <a:moveTo>
                      <a:pt x="0" y="120000"/>
                    </a:moveTo>
                    <a:cubicBezTo>
                      <a:pt x="0" y="53726"/>
                      <a:pt x="26863" y="0"/>
                      <a:pt x="60000" y="0"/>
                    </a:cubicBezTo>
                    <a:cubicBezTo>
                      <a:pt x="93137" y="0"/>
                      <a:pt x="120000" y="53726"/>
                      <a:pt x="120000" y="120000"/>
                    </a:cubicBezTo>
                  </a:path>
                </a:pathLst>
              </a:custGeom>
              <a:solidFill>
                <a:srgbClr val="000000">
                  <a:alpha val="0"/>
                </a:srgbClr>
              </a:solidFill>
              <a:ln cap="flat" cmpd="sng" w="28575">
                <a:solidFill>
                  <a:srgbClr val="F7F7F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20"/>
              <p:cNvSpPr/>
              <p:nvPr/>
            </p:nvSpPr>
            <p:spPr>
              <a:xfrm>
                <a:off x="133350" y="76200"/>
                <a:ext cx="38100" cy="1524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201" name="Google Shape;201;p20"/>
          <p:cNvSpPr txBox="1"/>
          <p:nvPr/>
        </p:nvSpPr>
        <p:spPr>
          <a:xfrm>
            <a:off x="571500" y="952500"/>
            <a:ext cx="38100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035">
                <a:solidFill>
                  <a:srgbClr val="065F46"/>
                </a:solidFill>
                <a:latin typeface="Inter ExtraBold"/>
                <a:ea typeface="Inter ExtraBold"/>
                <a:cs typeface="Inter ExtraBold"/>
                <a:sym typeface="Inter ExtraBold"/>
              </a:rPr>
              <a:t>Individual Power</a:t>
            </a:r>
            <a:endParaRPr b="0" sz="2035">
              <a:solidFill>
                <a:srgbClr val="065F46"/>
              </a:solidFill>
              <a:latin typeface="Inter ExtraBold"/>
              <a:ea typeface="Inter ExtraBold"/>
              <a:cs typeface="Inter ExtraBold"/>
              <a:sym typeface="Inter ExtraBold"/>
            </a:endParaRPr>
          </a:p>
          <a:p>
            <a:pPr indent="0" lvl="0" marL="0" rtl="0" algn="l">
              <a:spcBef>
                <a:spcPts val="600"/>
              </a:spcBef>
              <a:spcAft>
                <a:spcPts val="0"/>
              </a:spcAft>
              <a:buNone/>
            </a:pPr>
            <a:r>
              <a:rPr b="1" lang="en" sz="925">
                <a:solidFill>
                  <a:srgbClr val="D97706"/>
                </a:solidFill>
                <a:latin typeface="Roboto Mono"/>
                <a:ea typeface="Roboto Mono"/>
                <a:cs typeface="Roboto Mono"/>
                <a:sym typeface="Roboto Mono"/>
              </a:rPr>
              <a:t>Everyday Actions</a:t>
            </a:r>
            <a:endParaRPr b="1" sz="925">
              <a:solidFill>
                <a:srgbClr val="D97706"/>
              </a:solidFill>
              <a:latin typeface="Roboto Mono"/>
              <a:ea typeface="Roboto Mono"/>
              <a:cs typeface="Roboto Mono"/>
              <a:sym typeface="Roboto Mono"/>
            </a:endParaRPr>
          </a:p>
          <a:p>
            <a:pPr indent="0" lvl="0" marL="0" rtl="0" algn="l">
              <a:spcBef>
                <a:spcPts val="1200"/>
              </a:spcBef>
              <a:spcAft>
                <a:spcPts val="0"/>
              </a:spcAft>
              <a:buNone/>
            </a:pPr>
            <a:r>
              <a:rPr b="0" lang="en" sz="1203">
                <a:solidFill>
                  <a:srgbClr val="475569"/>
                </a:solidFill>
                <a:latin typeface="Roboto"/>
                <a:ea typeface="Roboto"/>
                <a:cs typeface="Roboto"/>
                <a:sym typeface="Roboto"/>
              </a:rPr>
              <a:t>While global policies are crucial, everyday actions like reducing daily plastic play a significant role in tackling waste and pollution.</a:t>
            </a:r>
            <a:endParaRPr b="0" sz="1203">
              <a:solidFill>
                <a:srgbClr val="475569"/>
              </a:solidFill>
              <a:latin typeface="Roboto"/>
              <a:ea typeface="Roboto"/>
              <a:cs typeface="Roboto"/>
              <a:sym typeface="Roboto"/>
            </a:endParaRPr>
          </a:p>
          <a:p>
            <a:pPr indent="0" lvl="0" marL="0" rtl="0" algn="l">
              <a:spcBef>
                <a:spcPts val="1050"/>
              </a:spcBef>
              <a:spcAft>
                <a:spcPts val="0"/>
              </a:spcAft>
              <a:buNone/>
            </a:pPr>
            <a:r>
              <a:rPr b="0" lang="en" sz="1203">
                <a:solidFill>
                  <a:srgbClr val="475569"/>
                </a:solidFill>
                <a:latin typeface="Roboto"/>
                <a:ea typeface="Roboto"/>
                <a:cs typeface="Roboto"/>
                <a:sym typeface="Roboto"/>
              </a:rPr>
              <a:t>Moreover, communication is a powerful solution. Simply talking about climate change raises awareness, empowers people with facts to make informed decisions, and improves public understanding.</a:t>
            </a:r>
            <a:endParaRPr b="0" sz="1203">
              <a:solidFill>
                <a:srgbClr val="475569"/>
              </a:solidFill>
              <a:latin typeface="Roboto"/>
              <a:ea typeface="Roboto"/>
              <a:cs typeface="Roboto"/>
              <a:sym typeface="Roboto"/>
            </a:endParaRPr>
          </a:p>
        </p:txBody>
      </p:sp>
      <p:grpSp>
        <p:nvGrpSpPr>
          <p:cNvPr id="202" name="Google Shape;202;p20"/>
          <p:cNvGrpSpPr/>
          <p:nvPr/>
        </p:nvGrpSpPr>
        <p:grpSpPr>
          <a:xfrm>
            <a:off x="4762500" y="952500"/>
            <a:ext cx="3810000" cy="2143200"/>
            <a:chOff x="0" y="0"/>
            <a:chExt cx="3810000" cy="2143200"/>
          </a:xfrm>
        </p:grpSpPr>
        <p:sp>
          <p:nvSpPr>
            <p:cNvPr id="203" name="Google Shape;203;p20"/>
            <p:cNvSpPr/>
            <p:nvPr/>
          </p:nvSpPr>
          <p:spPr>
            <a:xfrm>
              <a:off x="0" y="0"/>
              <a:ext cx="3810000" cy="2143200"/>
            </a:xfrm>
            <a:prstGeom prst="rect">
              <a:avLst/>
            </a:prstGeom>
            <a:solidFill>
              <a:srgbClr val="E8E8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4" name="Google Shape;204;p20"/>
            <p:cNvPicPr preferRelativeResize="0"/>
            <p:nvPr/>
          </p:nvPicPr>
          <p:blipFill rotWithShape="1">
            <a:blip r:embed="rId3">
              <a:alphaModFix/>
            </a:blip>
            <a:srcRect b="0" l="0" r="0" t="0"/>
            <a:stretch/>
          </p:blipFill>
          <p:spPr>
            <a:xfrm>
              <a:off x="0" y="0"/>
              <a:ext cx="3810000" cy="2143200"/>
            </a:xfrm>
            <a:prstGeom prst="rect">
              <a:avLst/>
            </a:prstGeom>
            <a:noFill/>
            <a:ln>
              <a:noFill/>
            </a:ln>
          </p:spPr>
        </p:pic>
        <p:sp>
          <p:nvSpPr>
            <p:cNvPr id="205" name="Google Shape;205;p20"/>
            <p:cNvSpPr/>
            <p:nvPr/>
          </p:nvSpPr>
          <p:spPr>
            <a:xfrm>
              <a:off x="0" y="2105025"/>
              <a:ext cx="38100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06" name="Google Shape;206;p20"/>
          <p:cNvGrpSpPr/>
          <p:nvPr/>
        </p:nvGrpSpPr>
        <p:grpSpPr>
          <a:xfrm>
            <a:off x="571500" y="3476625"/>
            <a:ext cx="8001000" cy="1047900"/>
            <a:chOff x="0" y="0"/>
            <a:chExt cx="8001000" cy="1047900"/>
          </a:xfrm>
        </p:grpSpPr>
        <p:sp>
          <p:nvSpPr>
            <p:cNvPr id="207" name="Google Shape;207;p20"/>
            <p:cNvSpPr/>
            <p:nvPr/>
          </p:nvSpPr>
          <p:spPr>
            <a:xfrm>
              <a:off x="0" y="0"/>
              <a:ext cx="8001000" cy="1047900"/>
            </a:xfrm>
            <a:prstGeom prst="rect">
              <a:avLst/>
            </a:prstGeom>
            <a:solidFill>
              <a:srgbClr val="FEE2E2"/>
            </a:solidFill>
            <a:ln cap="flat" cmpd="sng" w="19050">
              <a:solidFill>
                <a:srgbClr val="B91C1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20"/>
            <p:cNvSpPr/>
            <p:nvPr/>
          </p:nvSpPr>
          <p:spPr>
            <a:xfrm>
              <a:off x="0" y="0"/>
              <a:ext cx="114300" cy="1047900"/>
            </a:xfrm>
            <a:prstGeom prst="rect">
              <a:avLst/>
            </a:prstGeom>
            <a:solidFill>
              <a:srgbClr val="B91C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0"/>
            <p:cNvSpPr txBox="1"/>
            <p:nvPr/>
          </p:nvSpPr>
          <p:spPr>
            <a:xfrm>
              <a:off x="381000" y="142875"/>
              <a:ext cx="7239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3">
                  <a:solidFill>
                    <a:srgbClr val="B91C1C"/>
                  </a:solidFill>
                  <a:latin typeface="Inter"/>
                  <a:ea typeface="Inter"/>
                  <a:cs typeface="Inter"/>
                  <a:sym typeface="Inter"/>
                </a:rPr>
                <a:t>SPREAD KNOWLEDGE &amp; REDUCE WASTE</a:t>
              </a:r>
              <a:endParaRPr b="1" sz="1203">
                <a:solidFill>
                  <a:srgbClr val="B91C1C"/>
                </a:solidFill>
                <a:latin typeface="Inter"/>
                <a:ea typeface="Inter"/>
                <a:cs typeface="Inter"/>
                <a:sym typeface="Inter"/>
              </a:endParaRPr>
            </a:p>
            <a:p>
              <a:pPr indent="0" lvl="0" marL="0" rtl="0" algn="l">
                <a:spcBef>
                  <a:spcPts val="450"/>
                </a:spcBef>
                <a:spcAft>
                  <a:spcPts val="0"/>
                </a:spcAft>
                <a:buNone/>
              </a:pPr>
              <a:r>
                <a:rPr b="0" lang="en" sz="1156">
                  <a:solidFill>
                    <a:srgbClr val="7F1D1D"/>
                  </a:solidFill>
                  <a:latin typeface="Roboto"/>
                  <a:ea typeface="Roboto"/>
                  <a:cs typeface="Roboto"/>
                  <a:sym typeface="Roboto"/>
                </a:rPr>
                <a:t>Reducing daily plastic directly tackles waste, while sharing facts about human-caused climate change empowers others to make informed decisions. Talking about solutions is one of our most powerful tools.</a:t>
              </a:r>
              <a:endParaRPr b="0" sz="1156">
                <a:solidFill>
                  <a:srgbClr val="7F1D1D"/>
                </a:solidFill>
                <a:latin typeface="Roboto"/>
                <a:ea typeface="Roboto"/>
                <a:cs typeface="Roboto"/>
                <a:sym typeface="Roboto"/>
              </a:endParaRPr>
            </a:p>
          </p:txBody>
        </p:sp>
      </p:grpSp>
      <p:sp>
        <p:nvSpPr>
          <p:cNvPr id="210" name="Google Shape;210;p20"/>
          <p:cNvSpPr/>
          <p:nvPr/>
        </p:nvSpPr>
        <p:spPr>
          <a:xfrm>
            <a:off x="571500" y="4857750"/>
            <a:ext cx="381000" cy="381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pSp>
        <p:nvGrpSpPr>
          <p:cNvPr id="215" name="Google Shape;215;p21"/>
          <p:cNvGrpSpPr/>
          <p:nvPr/>
        </p:nvGrpSpPr>
        <p:grpSpPr>
          <a:xfrm>
            <a:off x="0" y="0"/>
            <a:ext cx="9144000" cy="5143500"/>
            <a:chOff x="0" y="0"/>
            <a:chExt cx="9144000" cy="5143500"/>
          </a:xfrm>
        </p:grpSpPr>
        <p:sp>
          <p:nvSpPr>
            <p:cNvPr id="216" name="Google Shape;216;p21"/>
            <p:cNvSpPr/>
            <p:nvPr/>
          </p:nvSpPr>
          <p:spPr>
            <a:xfrm>
              <a:off x="0" y="0"/>
              <a:ext cx="9144000" cy="5143500"/>
            </a:xfrm>
            <a:prstGeom prst="rect">
              <a:avLst/>
            </a:prstGeom>
            <a:solidFill>
              <a:srgbClr val="E8E8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21"/>
            <p:cNvSpPr/>
            <p:nvPr/>
          </p:nvSpPr>
          <p:spPr>
            <a:xfrm>
              <a:off x="0" y="0"/>
              <a:ext cx="2743200" cy="5143500"/>
            </a:xfrm>
            <a:prstGeom prst="rect">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1"/>
            <p:cNvSpPr/>
            <p:nvPr/>
          </p:nvSpPr>
          <p:spPr>
            <a:xfrm>
              <a:off x="2552700" y="762000"/>
              <a:ext cx="381000" cy="381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9" name="Google Shape;219;p21"/>
            <p:cNvGrpSpPr/>
            <p:nvPr/>
          </p:nvGrpSpPr>
          <p:grpSpPr>
            <a:xfrm>
              <a:off x="571500" y="571500"/>
              <a:ext cx="304800" cy="304800"/>
              <a:chOff x="0" y="0"/>
              <a:chExt cx="304800" cy="304800"/>
            </a:xfrm>
          </p:grpSpPr>
          <p:sp>
            <p:nvSpPr>
              <p:cNvPr id="220" name="Google Shape;220;p21"/>
              <p:cNvSpPr/>
              <p:nvPr/>
            </p:nvSpPr>
            <p:spPr>
              <a:xfrm>
                <a:off x="0" y="0"/>
                <a:ext cx="304800" cy="304800"/>
              </a:xfrm>
              <a:prstGeom prst="ellipse">
                <a:avLst/>
              </a:prstGeom>
              <a:solidFill>
                <a:srgbClr val="065F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1"/>
              <p:cNvSpPr/>
              <p:nvPr/>
            </p:nvSpPr>
            <p:spPr>
              <a:xfrm>
                <a:off x="38100" y="38100"/>
                <a:ext cx="228600" cy="114300"/>
              </a:xfrm>
              <a:custGeom>
                <a:rect b="b" l="l" r="r" t="t"/>
                <a:pathLst>
                  <a:path extrusionOk="0" h="120000" w="120000">
                    <a:moveTo>
                      <a:pt x="0" y="120000"/>
                    </a:moveTo>
                    <a:cubicBezTo>
                      <a:pt x="0" y="53726"/>
                      <a:pt x="26863" y="0"/>
                      <a:pt x="60000" y="0"/>
                    </a:cubicBezTo>
                    <a:cubicBezTo>
                      <a:pt x="93137" y="0"/>
                      <a:pt x="120000" y="53726"/>
                      <a:pt x="120000" y="120000"/>
                    </a:cubicBezTo>
                  </a:path>
                </a:pathLst>
              </a:custGeom>
              <a:solidFill>
                <a:srgbClr val="000000">
                  <a:alpha val="0"/>
                </a:srgbClr>
              </a:solidFill>
              <a:ln cap="flat" cmpd="sng" w="28575">
                <a:solidFill>
                  <a:srgbClr val="F7F7F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21"/>
              <p:cNvSpPr/>
              <p:nvPr/>
            </p:nvSpPr>
            <p:spPr>
              <a:xfrm>
                <a:off x="133350" y="76200"/>
                <a:ext cx="38100" cy="1524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223" name="Google Shape;223;p21"/>
          <p:cNvGrpSpPr/>
          <p:nvPr/>
        </p:nvGrpSpPr>
        <p:grpSpPr>
          <a:xfrm>
            <a:off x="571500" y="1524000"/>
            <a:ext cx="1714500" cy="2686200"/>
            <a:chOff x="571500" y="1524000"/>
            <a:chExt cx="1714500" cy="2686200"/>
          </a:xfrm>
        </p:grpSpPr>
        <p:sp>
          <p:nvSpPr>
            <p:cNvPr id="224" name="Google Shape;224;p21"/>
            <p:cNvSpPr txBox="1"/>
            <p:nvPr/>
          </p:nvSpPr>
          <p:spPr>
            <a:xfrm>
              <a:off x="571500" y="1524000"/>
              <a:ext cx="17145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97706"/>
                  </a:solidFill>
                  <a:latin typeface="Roboto Mono"/>
                  <a:ea typeface="Roboto Mono"/>
                  <a:cs typeface="Roboto Mono"/>
                  <a:sym typeface="Roboto Mono"/>
                </a:rPr>
                <a:t>FINAL CALL</a:t>
              </a:r>
              <a:endParaRPr b="1" sz="1200">
                <a:solidFill>
                  <a:srgbClr val="D97706"/>
                </a:solidFill>
                <a:latin typeface="Roboto Mono"/>
                <a:ea typeface="Roboto Mono"/>
                <a:cs typeface="Roboto Mono"/>
                <a:sym typeface="Roboto Mono"/>
              </a:endParaRPr>
            </a:p>
            <a:p>
              <a:pPr indent="0" lvl="0" marL="0" rtl="0" algn="l">
                <a:spcBef>
                  <a:spcPts val="900"/>
                </a:spcBef>
                <a:spcAft>
                  <a:spcPts val="0"/>
                </a:spcAft>
                <a:buNone/>
              </a:pPr>
              <a:r>
                <a:rPr b="0" lang="en" sz="2000">
                  <a:latin typeface="Inter ExtraBold"/>
                  <a:ea typeface="Inter ExtraBold"/>
                  <a:cs typeface="Inter ExtraBold"/>
                  <a:sym typeface="Inter ExtraBold"/>
                </a:rPr>
                <a:t>Act Today.</a:t>
              </a:r>
              <a:endParaRPr b="0" sz="2000">
                <a:latin typeface="Inter ExtraBold"/>
                <a:ea typeface="Inter ExtraBold"/>
                <a:cs typeface="Inter ExtraBold"/>
                <a:sym typeface="Inter ExtraBold"/>
              </a:endParaRPr>
            </a:p>
            <a:p>
              <a:pPr indent="0" lvl="0" marL="0" rtl="0" algn="l">
                <a:spcBef>
                  <a:spcPts val="1200"/>
                </a:spcBef>
                <a:spcAft>
                  <a:spcPts val="0"/>
                </a:spcAft>
                <a:buNone/>
              </a:pPr>
              <a:r>
                <a:rPr b="0" lang="en" sz="1050">
                  <a:latin typeface="Roboto"/>
                  <a:ea typeface="Roboto"/>
                  <a:cs typeface="Roboto"/>
                  <a:sym typeface="Roboto"/>
                </a:rPr>
                <a:t>The choices we make now will define the climate path for generations to come. Collective action is our most powerful economic and ecological asset.</a:t>
              </a:r>
              <a:endParaRPr b="0" sz="1050">
                <a:latin typeface="Roboto"/>
                <a:ea typeface="Roboto"/>
                <a:cs typeface="Roboto"/>
                <a:sym typeface="Roboto"/>
              </a:endParaRPr>
            </a:p>
          </p:txBody>
        </p:sp>
        <p:sp>
          <p:nvSpPr>
            <p:cNvPr id="225" name="Google Shape;225;p21"/>
            <p:cNvSpPr/>
            <p:nvPr/>
          </p:nvSpPr>
          <p:spPr>
            <a:xfrm>
              <a:off x="571500" y="4191000"/>
              <a:ext cx="571500" cy="192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26" name="Google Shape;226;p21"/>
          <p:cNvGrpSpPr/>
          <p:nvPr/>
        </p:nvGrpSpPr>
        <p:grpSpPr>
          <a:xfrm>
            <a:off x="3238500" y="762000"/>
            <a:ext cx="5334000" cy="3810000"/>
            <a:chOff x="3238500" y="762000"/>
            <a:chExt cx="5334000" cy="3810000"/>
          </a:xfrm>
        </p:grpSpPr>
        <p:sp>
          <p:nvSpPr>
            <p:cNvPr id="227" name="Google Shape;227;p21"/>
            <p:cNvSpPr txBox="1"/>
            <p:nvPr/>
          </p:nvSpPr>
          <p:spPr>
            <a:xfrm>
              <a:off x="3238500" y="762000"/>
              <a:ext cx="5334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65F46"/>
                  </a:solidFill>
                  <a:latin typeface="Roboto Mono"/>
                  <a:ea typeface="Roboto Mono"/>
                  <a:cs typeface="Roboto Mono"/>
                  <a:sym typeface="Roboto Mono"/>
                </a:rPr>
                <a:t>CONCLUSION</a:t>
              </a:r>
              <a:endParaRPr b="1" sz="1200">
                <a:solidFill>
                  <a:srgbClr val="065F46"/>
                </a:solidFill>
                <a:latin typeface="Roboto Mono"/>
                <a:ea typeface="Roboto Mono"/>
                <a:cs typeface="Roboto Mono"/>
                <a:sym typeface="Roboto Mono"/>
              </a:endParaRPr>
            </a:p>
            <a:p>
              <a:pPr indent="0" lvl="0" marL="0" rtl="0" algn="l">
                <a:spcBef>
                  <a:spcPts val="600"/>
                </a:spcBef>
                <a:spcAft>
                  <a:spcPts val="0"/>
                </a:spcAft>
                <a:buNone/>
              </a:pPr>
              <a:r>
                <a:rPr b="0" lang="en" sz="2400">
                  <a:solidFill>
                    <a:srgbClr val="0F172A"/>
                  </a:solidFill>
                  <a:latin typeface="Inter ExtraBold"/>
                  <a:ea typeface="Inter ExtraBold"/>
                  <a:cs typeface="Inter ExtraBold"/>
                  <a:sym typeface="Inter ExtraBold"/>
                </a:rPr>
                <a:t>Joining the Collective Fight for a Sustainable Future</a:t>
              </a:r>
              <a:endParaRPr b="0" sz="2400">
                <a:solidFill>
                  <a:srgbClr val="0F172A"/>
                </a:solidFill>
                <a:latin typeface="Inter ExtraBold"/>
                <a:ea typeface="Inter ExtraBold"/>
                <a:cs typeface="Inter ExtraBold"/>
                <a:sym typeface="Inter ExtraBold"/>
              </a:endParaRPr>
            </a:p>
          </p:txBody>
        </p:sp>
        <p:sp>
          <p:nvSpPr>
            <p:cNvPr id="228" name="Google Shape;228;p21"/>
            <p:cNvSpPr txBox="1"/>
            <p:nvPr/>
          </p:nvSpPr>
          <p:spPr>
            <a:xfrm>
              <a:off x="3238500" y="2095500"/>
              <a:ext cx="53340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49">
                  <a:solidFill>
                    <a:srgbClr val="475569"/>
                  </a:solidFill>
                  <a:latin typeface="Roboto"/>
                  <a:ea typeface="Roboto"/>
                  <a:cs typeface="Roboto"/>
                  <a:sym typeface="Roboto"/>
                </a:rPr>
                <a:t>The climate crisis is one of the greatest challenges facing humanity today, but </a:t>
              </a:r>
              <a:r>
                <a:rPr b="1" lang="en" sz="1249">
                  <a:solidFill>
                    <a:srgbClr val="0F172A"/>
                  </a:solidFill>
                  <a:latin typeface="Roboto"/>
                  <a:ea typeface="Roboto"/>
                  <a:cs typeface="Roboto"/>
                  <a:sym typeface="Roboto"/>
                </a:rPr>
                <a:t>urgent global action can mitigate its effects</a:t>
              </a:r>
              <a:r>
                <a:rPr b="0" lang="en" sz="1249">
                  <a:solidFill>
                    <a:srgbClr val="475569"/>
                  </a:solidFill>
                  <a:latin typeface="Roboto"/>
                  <a:ea typeface="Roboto"/>
                  <a:cs typeface="Roboto"/>
                  <a:sym typeface="Roboto"/>
                </a:rPr>
                <a:t>. We have effective options available right now to slow warming, adapt to current risks, and ensure a safer future for generations to come.</a:t>
              </a:r>
              <a:endParaRPr b="0" sz="1249">
                <a:solidFill>
                  <a:srgbClr val="475569"/>
                </a:solidFill>
                <a:latin typeface="Roboto"/>
                <a:ea typeface="Roboto"/>
                <a:cs typeface="Roboto"/>
                <a:sym typeface="Roboto"/>
              </a:endParaRPr>
            </a:p>
            <a:p>
              <a:pPr indent="0" lvl="0" marL="0" rtl="0" algn="l">
                <a:spcBef>
                  <a:spcPts val="1200"/>
                </a:spcBef>
                <a:spcAft>
                  <a:spcPts val="0"/>
                </a:spcAft>
                <a:buNone/>
              </a:pPr>
              <a:r>
                <a:rPr b="0" lang="en" sz="1249">
                  <a:solidFill>
                    <a:srgbClr val="475569"/>
                  </a:solidFill>
                  <a:latin typeface="Roboto"/>
                  <a:ea typeface="Roboto"/>
                  <a:cs typeface="Roboto"/>
                  <a:sym typeface="Roboto"/>
                </a:rPr>
                <a:t>By exploring the economic benefits of taking action to reduce emissions and adapt to climate change, we can see that sustainable practices are not just environmentally necessary, but </a:t>
              </a:r>
              <a:r>
                <a:rPr b="1" lang="en" sz="1249">
                  <a:solidFill>
                    <a:srgbClr val="065F46"/>
                  </a:solidFill>
                  <a:latin typeface="Roboto"/>
                  <a:ea typeface="Roboto"/>
                  <a:cs typeface="Roboto"/>
                  <a:sym typeface="Roboto"/>
                </a:rPr>
                <a:t>financially sound</a:t>
              </a:r>
              <a:r>
                <a:rPr b="0" lang="en" sz="1249">
                  <a:solidFill>
                    <a:srgbClr val="475569"/>
                  </a:solidFill>
                  <a:latin typeface="Roboto"/>
                  <a:ea typeface="Roboto"/>
                  <a:cs typeface="Roboto"/>
                  <a:sym typeface="Roboto"/>
                </a:rPr>
                <a:t>. Whether it is through the adoption of renewable energy, implementing green business practices, or improving water quality and income diversification through sustainable agriculture, the path forward requires collective effort. We must all work together to minimize greenhouse gas emissions and build a resilient, sustainable future.</a:t>
              </a:r>
              <a:endParaRPr b="0" sz="1249">
                <a:solidFill>
                  <a:srgbClr val="475569"/>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